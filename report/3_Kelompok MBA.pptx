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6" r:id="rId2"/>
    <p:sldId id="259" r:id="rId3"/>
    <p:sldId id="319" r:id="rId4"/>
    <p:sldId id="322" r:id="rId5"/>
    <p:sldId id="323" r:id="rId6"/>
    <p:sldId id="324" r:id="rId7"/>
    <p:sldId id="325" r:id="rId8"/>
    <p:sldId id="327" r:id="rId9"/>
    <p:sldId id="326" r:id="rId10"/>
    <p:sldId id="267" r:id="rId11"/>
    <p:sldId id="277" r:id="rId12"/>
    <p:sldId id="278" r:id="rId13"/>
    <p:sldId id="280" r:id="rId14"/>
    <p:sldId id="281" r:id="rId15"/>
    <p:sldId id="282" r:id="rId16"/>
    <p:sldId id="285" r:id="rId17"/>
    <p:sldId id="287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89" r:id="rId27"/>
    <p:sldId id="292" r:id="rId28"/>
    <p:sldId id="296" r:id="rId29"/>
    <p:sldId id="297" r:id="rId30"/>
    <p:sldId id="299" r:id="rId31"/>
    <p:sldId id="300" r:id="rId32"/>
    <p:sldId id="301" r:id="rId33"/>
    <p:sldId id="302" r:id="rId34"/>
    <p:sldId id="303" r:id="rId35"/>
    <p:sldId id="306" r:id="rId36"/>
    <p:sldId id="310" r:id="rId37"/>
    <p:sldId id="311" r:id="rId38"/>
    <p:sldId id="312" r:id="rId39"/>
    <p:sldId id="305" r:id="rId40"/>
    <p:sldId id="307" r:id="rId41"/>
    <p:sldId id="308" r:id="rId42"/>
    <p:sldId id="309" r:id="rId43"/>
    <p:sldId id="316" r:id="rId44"/>
    <p:sldId id="313" r:id="rId45"/>
    <p:sldId id="314" r:id="rId46"/>
    <p:sldId id="315" r:id="rId47"/>
    <p:sldId id="317" r:id="rId48"/>
    <p:sldId id="318" r:id="rId49"/>
    <p:sldId id="258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dzik Mochammad Sofyan" initials="HM" lastIdx="1" clrIdx="0">
    <p:extLst>
      <p:ext uri="{19B8F6BF-5375-455C-9EA6-DF929625EA0E}">
        <p15:presenceInfo xmlns:p15="http://schemas.microsoft.com/office/powerpoint/2012/main" userId="a409c0afaf8e628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39" d="100"/>
          <a:sy n="39" d="100"/>
        </p:scale>
        <p:origin x="10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037D1E-CBCD-4968-9A6C-B16EFF32770F}" type="datetimeFigureOut">
              <a:rPr lang="en-ID" smtClean="0"/>
              <a:t>15/07/2026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390220-2E61-4A10-B740-9D16FF00F53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35282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EB85D-9AED-A9D3-550D-60457CB63E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C3156F-CFD6-57E4-89FD-494827784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73E7F-B10F-0FCC-64F1-D4F41C6D2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6AD0D-894B-429C-8C6C-B8F5246A6C49}" type="datetimeFigureOut">
              <a:rPr lang="en-ID" smtClean="0"/>
              <a:t>15/07/2026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586A4-3E73-F4DA-F20B-582CC8F02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3B0D3-5233-4CB8-5AAF-C13120D3D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892DC-E413-4444-9CB4-070F716B352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21876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5F315-B3B7-B2D0-0523-4D551A975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540B1-EADB-E625-0796-6FFAD7CE3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973AE-71DC-F514-5DFC-5DE78105B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6AD0D-894B-429C-8C6C-B8F5246A6C49}" type="datetimeFigureOut">
              <a:rPr lang="en-ID" smtClean="0"/>
              <a:t>15/07/2026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2A059-A333-7D51-E9AD-A420589AB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D3DB6-BA73-1CEE-CD04-CEA82E0B4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892DC-E413-4444-9CB4-070F716B352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25633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27592-6E41-4B6F-D235-7D3FB81B7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F8320-9A89-A355-9024-B0FA14DD5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2A54D-C6B1-B5F3-6121-F8A17FA48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6AD0D-894B-429C-8C6C-B8F5246A6C49}" type="datetimeFigureOut">
              <a:rPr lang="en-ID" smtClean="0"/>
              <a:t>15/07/2026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422DB-83DB-C487-7A87-E5B43BEB9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DBB6F-861F-C67B-219C-A1F9AB0D9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892DC-E413-4444-9CB4-070F716B352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15183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BE22B-8693-E4D8-BFDB-8D66DA42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4F089-F7F8-95BE-BD71-58A088E783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348D67-C8EE-F451-7040-137D69C29D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68C9FF-C3FE-F6FD-6FC9-9C8A1082A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6AD0D-894B-429C-8C6C-B8F5246A6C49}" type="datetimeFigureOut">
              <a:rPr lang="en-ID" smtClean="0"/>
              <a:t>15/07/2026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1A837-6300-6C54-886C-29297C4B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0D21A9-58F5-2B1B-9E4B-9FC210ACB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892DC-E413-4444-9CB4-070F716B352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35254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DDE42-E943-439C-C8D7-ADB4992F8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54F79-B126-F437-68A0-B551F89C6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C68BA2-7E8A-A049-0A80-DAF957409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56F2E7-4360-4440-5A47-D683181DDC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FCC433-CD6A-2CE2-E5C5-01A43A2481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B6B194-57C3-4153-2BC4-5C12B211D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6AD0D-894B-429C-8C6C-B8F5246A6C49}" type="datetimeFigureOut">
              <a:rPr lang="en-ID" smtClean="0"/>
              <a:t>15/07/2026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38EA15-9507-A5CD-7941-E204BB6E4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1734ED-4110-F6C6-8BEE-91FD88A17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892DC-E413-4444-9CB4-070F716B352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3926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82D28-9EC4-7F4E-198E-300786A1C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609273-ED5D-5681-1120-45B89E8C8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6AD0D-894B-429C-8C6C-B8F5246A6C49}" type="datetimeFigureOut">
              <a:rPr lang="en-ID" smtClean="0"/>
              <a:t>15/07/2026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6ABC05-2675-D5B7-24BA-4E9B2ABE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8F8FCB-CE60-DD47-06A3-10432F68F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892DC-E413-4444-9CB4-070F716B352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20193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5A0977-8273-273B-7651-32CD870AE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6AD0D-894B-429C-8C6C-B8F5246A6C49}" type="datetimeFigureOut">
              <a:rPr lang="en-ID" smtClean="0"/>
              <a:t>15/07/2026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0F2E67-EBF3-27AF-32BE-7688CCCD6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E2948-B847-B2A9-85A8-E45124A76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892DC-E413-4444-9CB4-070F716B352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8898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C3FD1-E642-9D79-7DC7-D8F40A18E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9C2C0-F6C9-AE8F-FB34-BE48A270B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2B0CB1-2E7C-12CF-469B-0DCF08770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DCEC14-8037-40AA-20A2-AADC53F75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6AD0D-894B-429C-8C6C-B8F5246A6C49}" type="datetimeFigureOut">
              <a:rPr lang="en-ID" smtClean="0"/>
              <a:t>15/07/2026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1D4E8F-0176-1250-DDC5-AC27B629D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819DBC-DA1D-595C-7B3A-859649AC6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892DC-E413-4444-9CB4-070F716B352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84777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7ACBB-7127-1561-44E5-C2E105685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8C3BA6-0262-C6A4-2D67-AF3E1672DB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470BA6-E117-081D-1EB2-176850E9D8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CF7FD-1630-BBFC-BB56-D635EE0C4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6AD0D-894B-429C-8C6C-B8F5246A6C49}" type="datetimeFigureOut">
              <a:rPr lang="en-ID" smtClean="0"/>
              <a:t>15/07/2026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4F9F0-E8D5-F8F8-6776-787684A2C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1B195A-CF93-D24D-FBEB-44D2D3A24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892DC-E413-4444-9CB4-070F716B352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09388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ECAC6-362A-50CA-9AEF-B9D035EBA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9F67F0-AC05-083E-7675-3008E3D1DA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7E580-641A-786A-5296-A59458DF8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6AD0D-894B-429C-8C6C-B8F5246A6C49}" type="datetimeFigureOut">
              <a:rPr lang="en-ID" smtClean="0"/>
              <a:t>15/07/2026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9DB37-0CD7-03BA-0D2F-AF7729035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6543-E2C2-803B-6144-F7BB3176C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892DC-E413-4444-9CB4-070F716B352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54248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F5074F-F5DD-D76D-56A7-AF6292A0D1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1A0137-FF59-2B15-1D81-98D11C9C2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412BD-8F5B-EC53-88DC-5F3E3BE8E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6AD0D-894B-429C-8C6C-B8F5246A6C49}" type="datetimeFigureOut">
              <a:rPr lang="en-ID" smtClean="0"/>
              <a:t>15/07/2026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BA780-D01C-1391-A77C-AECD4C6C6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73466-413A-9362-2601-F0143205B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892DC-E413-4444-9CB4-070F716B352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54108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C0A4ED-0B21-9501-C9B7-FF34B9792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4ABDA-5675-3E09-13F9-FB6E379C9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42BFB-665E-F73F-7A35-6C7807C8A0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6AD0D-894B-429C-8C6C-B8F5246A6C49}" type="datetimeFigureOut">
              <a:rPr lang="en-ID" smtClean="0"/>
              <a:t>15/07/2026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2DEDC-64D0-6400-C71D-5592BD8968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08D72-7E22-CED9-44F4-0EA06E9332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892DC-E413-4444-9CB4-070F716B352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12198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57C6EB-3EB3-F104-9891-F7B6913A03AE}"/>
              </a:ext>
            </a:extLst>
          </p:cNvPr>
          <p:cNvSpPr txBox="1"/>
          <p:nvPr/>
        </p:nvSpPr>
        <p:spPr>
          <a:xfrm>
            <a:off x="2272421" y="542924"/>
            <a:ext cx="774846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6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Market Basket Analysis:</a:t>
            </a:r>
          </a:p>
          <a:p>
            <a:r>
              <a:rPr lang="en-ID" sz="6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Data </a:t>
            </a:r>
            <a:r>
              <a:rPr lang="en-ID" sz="6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Transaksi</a:t>
            </a:r>
            <a:r>
              <a:rPr lang="en-ID" sz="6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Laundry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980067-7F34-59FB-65BE-F15C5C76A11D}"/>
              </a:ext>
            </a:extLst>
          </p:cNvPr>
          <p:cNvSpPr txBox="1"/>
          <p:nvPr/>
        </p:nvSpPr>
        <p:spPr>
          <a:xfrm>
            <a:off x="1892515" y="2481916"/>
            <a:ext cx="8406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Hadzik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Mochamad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Sofyan, Afifah Naufal Rahmani, Nurfanis Rosman, Efendi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Sugiantoro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426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201E0-D72A-A6C0-916B-2092499DF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14D959-3C31-B989-72EE-3329B079D2BF}"/>
              </a:ext>
            </a:extLst>
          </p:cNvPr>
          <p:cNvSpPr txBox="1"/>
          <p:nvPr/>
        </p:nvSpPr>
        <p:spPr>
          <a:xfrm>
            <a:off x="2187468" y="1754015"/>
            <a:ext cx="5450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Latar </a:t>
            </a:r>
            <a:r>
              <a:rPr lang="en-ID" sz="4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Belakang</a:t>
            </a:r>
            <a:endParaRPr lang="en-ID" sz="4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D058DD-2A95-B0B3-BA47-B9BD10F9077E}"/>
              </a:ext>
            </a:extLst>
          </p:cNvPr>
          <p:cNvSpPr txBox="1"/>
          <p:nvPr/>
        </p:nvSpPr>
        <p:spPr>
          <a:xfrm>
            <a:off x="2187468" y="2743200"/>
            <a:ext cx="4584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luas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dikenal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ID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kunci</a:t>
            </a:r>
            <a:r>
              <a:rPr lang="en-ID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produktivitas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ekonomi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(Tong et al., 2025).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1C6B9D-FD10-E36F-3A8E-D834AE048D7C}"/>
              </a:ext>
            </a:extLst>
          </p:cNvPr>
          <p:cNvSpPr txBox="1"/>
          <p:nvPr/>
        </p:nvSpPr>
        <p:spPr>
          <a:xfrm>
            <a:off x="2187468" y="3947829"/>
            <a:ext cx="45847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Mengolah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membantu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menemukan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pola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ID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memberikan</a:t>
            </a:r>
            <a:r>
              <a:rPr lang="en-ID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pengetahuan</a:t>
            </a:r>
            <a:r>
              <a:rPr lang="en-ID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krusial</a:t>
            </a:r>
            <a:r>
              <a:rPr lang="en-ID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mengoptimasi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proses dan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pengambilan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keputusan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(Abreu &amp; Leite, 2025; Christy &amp;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Maryati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2026)</a:t>
            </a:r>
          </a:p>
        </p:txBody>
      </p:sp>
    </p:spTree>
    <p:extLst>
      <p:ext uri="{BB962C8B-B14F-4D97-AF65-F5344CB8AC3E}">
        <p14:creationId xmlns:p14="http://schemas.microsoft.com/office/powerpoint/2010/main" val="604368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655DD-8218-BBD3-F750-ADEC484CB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943DED-48C1-2907-E5CE-C01EC19858DF}"/>
              </a:ext>
            </a:extLst>
          </p:cNvPr>
          <p:cNvSpPr txBox="1"/>
          <p:nvPr/>
        </p:nvSpPr>
        <p:spPr>
          <a:xfrm>
            <a:off x="2187468" y="1754015"/>
            <a:ext cx="5450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Latar </a:t>
            </a:r>
            <a:r>
              <a:rPr lang="en-ID" sz="4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Belakang</a:t>
            </a:r>
            <a:endParaRPr lang="en-ID" sz="4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E21D67-598F-6321-1EDD-D14486E02AA1}"/>
              </a:ext>
            </a:extLst>
          </p:cNvPr>
          <p:cNvSpPr txBox="1"/>
          <p:nvPr/>
        </p:nvSpPr>
        <p:spPr>
          <a:xfrm>
            <a:off x="2187468" y="2743200"/>
            <a:ext cx="45847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Saat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hampir</a:t>
            </a:r>
            <a:r>
              <a:rPr lang="en-ID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semua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lanskap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industri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sedang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menghadapi</a:t>
            </a:r>
            <a:r>
              <a:rPr lang="en-ID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kompetisi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Kompetisi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berkembang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mendorong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perusahaan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tangkas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strategi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menarik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perhatian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memastikan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bisnis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terus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meningkatkan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penjualan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Salah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kunci</a:t>
            </a:r>
            <a:r>
              <a:rPr lang="en-ID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kompetitivitas</a:t>
            </a:r>
            <a:r>
              <a:rPr lang="en-ID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menghadapai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memahami</a:t>
            </a:r>
            <a:r>
              <a:rPr lang="en-ID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perilaku</a:t>
            </a:r>
            <a:r>
              <a:rPr lang="en-ID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konsumen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basket analysis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memahami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(Pan et al., 2025; Saputra et al., 2023).</a:t>
            </a:r>
          </a:p>
        </p:txBody>
      </p:sp>
    </p:spTree>
    <p:extLst>
      <p:ext uri="{BB962C8B-B14F-4D97-AF65-F5344CB8AC3E}">
        <p14:creationId xmlns:p14="http://schemas.microsoft.com/office/powerpoint/2010/main" val="1927818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DB748-04F8-BCC4-F605-EF2341999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9A4B0B-9358-3A06-5014-BE1CC268A8CD}"/>
              </a:ext>
            </a:extLst>
          </p:cNvPr>
          <p:cNvSpPr txBox="1"/>
          <p:nvPr/>
        </p:nvSpPr>
        <p:spPr>
          <a:xfrm>
            <a:off x="2187468" y="1754015"/>
            <a:ext cx="5450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Latar </a:t>
            </a:r>
            <a:r>
              <a:rPr lang="en-ID" sz="4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Belakang</a:t>
            </a:r>
            <a:endParaRPr lang="en-ID" sz="4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E95000-9F37-6052-CC64-A3FCDA0CD2A0}"/>
              </a:ext>
            </a:extLst>
          </p:cNvPr>
          <p:cNvSpPr txBox="1"/>
          <p:nvPr/>
        </p:nvSpPr>
        <p:spPr>
          <a:xfrm>
            <a:off x="2187468" y="2743200"/>
            <a:ext cx="45847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i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Market basket analysis</a:t>
            </a:r>
            <a:r>
              <a:rPr lang="en-ID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memanfaatkan</a:t>
            </a:r>
            <a:r>
              <a:rPr lang="en-ID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association rule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menemukan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hubungan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antar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intensif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banyak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perusahaan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(Pradana &amp;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Khoironi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2025;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Umamaheswararao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Chandrasekhar, 2022).</a:t>
            </a:r>
          </a:p>
        </p:txBody>
      </p:sp>
    </p:spTree>
    <p:extLst>
      <p:ext uri="{BB962C8B-B14F-4D97-AF65-F5344CB8AC3E}">
        <p14:creationId xmlns:p14="http://schemas.microsoft.com/office/powerpoint/2010/main" val="4225725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9A106-762D-BD37-3416-A1F10A0EE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89EF0F-4C11-DE15-8219-CF9BEA491AC4}"/>
              </a:ext>
            </a:extLst>
          </p:cNvPr>
          <p:cNvSpPr txBox="1"/>
          <p:nvPr/>
        </p:nvSpPr>
        <p:spPr>
          <a:xfrm>
            <a:off x="2187468" y="1754015"/>
            <a:ext cx="5450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Latar </a:t>
            </a:r>
            <a:r>
              <a:rPr lang="en-ID" sz="4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Belakang</a:t>
            </a:r>
            <a:endParaRPr lang="en-ID" sz="4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9B6E94-8B32-8FE1-8618-CA6FC1509428}"/>
                  </a:ext>
                </a:extLst>
              </p:cNvPr>
              <p:cNvSpPr txBox="1"/>
              <p:nvPr/>
            </p:nvSpPr>
            <p:spPr>
              <a:xfrm>
                <a:off x="2187468" y="2743200"/>
                <a:ext cx="5915132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ID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Association rule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 </a:t>
                </a:r>
                <a:r>
                  <a:rPr lang="en-ID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definisikan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sebagai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I= {i_1  ,i_2  ,…,</a:t>
                </a:r>
                <a:r>
                  <a:rPr lang="en-ID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i_n</a:t>
                </a:r>
                <a:r>
                  <a:rPr lang="en-ID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}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dan </a:t>
                </a:r>
                <a:r>
                  <a:rPr lang="en-ID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 = {t_1  ,t_2  ,…,</a:t>
                </a:r>
                <a:r>
                  <a:rPr lang="en-ID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t_m</a:t>
                </a:r>
                <a:r>
                  <a:rPr lang="en-ID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}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ID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dimana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ID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terdiri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dari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dua attributes yang </a:t>
                </a:r>
                <a:r>
                  <a:rPr lang="en-ID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disebut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sebagai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items, </a:t>
                </a:r>
                <a:r>
                  <a:rPr lang="en-ID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adalah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himpunan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transaksi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yang </a:t>
                </a:r>
                <a:r>
                  <a:rPr lang="en-ID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disebut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sebagai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database, </a:t>
                </a:r>
                <a:r>
                  <a:rPr lang="en-ID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setiap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transaksi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 </a:t>
                </a:r>
                <a:r>
                  <a:rPr lang="en-ID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dalam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memiliki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identitas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transaksi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ID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termasuk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himpunan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bagian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dari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item di </a:t>
                </a:r>
                <a:r>
                  <a:rPr lang="en-ID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dalam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ID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Association rule </a:t>
                </a:r>
                <a:r>
                  <a:rPr lang="en-ID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dapat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diilustrasikan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dengan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bentuk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D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ID" b="1" i="1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ID" b="1" i="1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ID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D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ID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D" b="1" i="1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ID" b="1" i="1">
                        <a:latin typeface="Cambria Math" panose="02040503050406030204" pitchFamily="18" charset="0"/>
                      </a:rPr>
                      <m:t> ∪</m:t>
                    </m:r>
                    <m:r>
                      <a:rPr lang="en-ID" b="1" i="1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D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D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Hassan</m:t>
                    </m:r>
                    <m:r>
                      <m:rPr>
                        <m:nor/>
                      </m:rPr>
                      <a:rPr lang="en-ID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D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et</m:t>
                    </m:r>
                    <m:r>
                      <m:rPr>
                        <m:nor/>
                      </m:rPr>
                      <a:rPr lang="en-ID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D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al</m:t>
                    </m:r>
                    <m:r>
                      <m:rPr>
                        <m:nor/>
                      </m:rPr>
                      <a:rPr lang="en-ID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., 2026)</m:t>
                    </m:r>
                    <m:r>
                      <m:rPr>
                        <m:nor/>
                      </m:rPr>
                      <a:rPr lang="en-US" b="0" i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ID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9B6E94-8B32-8FE1-8618-CA6FC1509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468" y="2743200"/>
                <a:ext cx="5915132" cy="2308324"/>
              </a:xfrm>
              <a:prstGeom prst="rect">
                <a:avLst/>
              </a:prstGeom>
              <a:blipFill>
                <a:blip r:embed="rId2"/>
                <a:stretch>
                  <a:fillRect l="-928" t="-1319" r="-825" b="-131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8350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E730F-6EFF-7EF0-F5C6-775A2E4AC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2330C2-4B4D-8239-31A2-C48A6EEF6C17}"/>
              </a:ext>
            </a:extLst>
          </p:cNvPr>
          <p:cNvSpPr txBox="1"/>
          <p:nvPr/>
        </p:nvSpPr>
        <p:spPr>
          <a:xfrm>
            <a:off x="2362200" y="331470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91AA2C-30BE-527D-708D-0414877801BA}"/>
              </a:ext>
            </a:extLst>
          </p:cNvPr>
          <p:cNvSpPr txBox="1"/>
          <p:nvPr/>
        </p:nvSpPr>
        <p:spPr>
          <a:xfrm>
            <a:off x="5918200" y="1968500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Pola.</a:t>
            </a:r>
          </a:p>
        </p:txBody>
      </p:sp>
    </p:spTree>
    <p:extLst>
      <p:ext uri="{BB962C8B-B14F-4D97-AF65-F5344CB8AC3E}">
        <p14:creationId xmlns:p14="http://schemas.microsoft.com/office/powerpoint/2010/main" val="3984422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75C60-5378-D335-FE73-8C78B5949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399662-1D96-664E-7F12-6A9F9C9D9E75}"/>
              </a:ext>
            </a:extLst>
          </p:cNvPr>
          <p:cNvSpPr txBox="1"/>
          <p:nvPr/>
        </p:nvSpPr>
        <p:spPr>
          <a:xfrm>
            <a:off x="2854684" y="292100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6D7593-C4B7-20DA-16EA-3C5DDA46A0D6}"/>
              </a:ext>
            </a:extLst>
          </p:cNvPr>
          <p:cNvSpPr txBox="1"/>
          <p:nvPr/>
        </p:nvSpPr>
        <p:spPr>
          <a:xfrm>
            <a:off x="5257800" y="2413000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51B6B2E-B0B3-EA1C-0290-8D7FBB91F183}"/>
              </a:ext>
            </a:extLst>
          </p:cNvPr>
          <p:cNvSpPr/>
          <p:nvPr/>
        </p:nvSpPr>
        <p:spPr>
          <a:xfrm>
            <a:off x="2461185" y="1816100"/>
            <a:ext cx="2143779" cy="2209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DDDE094-9159-3C46-B5D2-3E38A9F41A0A}"/>
              </a:ext>
            </a:extLst>
          </p:cNvPr>
          <p:cNvSpPr/>
          <p:nvPr/>
        </p:nvSpPr>
        <p:spPr>
          <a:xfrm>
            <a:off x="4185910" y="1308100"/>
            <a:ext cx="2143779" cy="2209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6169E9-AB59-8A40-CCBE-513928E097C7}"/>
              </a:ext>
            </a:extLst>
          </p:cNvPr>
          <p:cNvSpPr txBox="1"/>
          <p:nvPr/>
        </p:nvSpPr>
        <p:spPr>
          <a:xfrm>
            <a:off x="6765362" y="712221"/>
            <a:ext cx="46932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Rumusan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Bagaimana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memahami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perilaku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Bagaimana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pendekatan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dilakukan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memahami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mengektraksi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data?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Rekomendasi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117439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1A703-1A8D-C068-0765-4078D43E8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54FA04-304C-4D29-D43D-7FEF2B33F31B}"/>
              </a:ext>
            </a:extLst>
          </p:cNvPr>
          <p:cNvSpPr txBox="1"/>
          <p:nvPr/>
        </p:nvSpPr>
        <p:spPr>
          <a:xfrm>
            <a:off x="2854684" y="292100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EBD205-6C26-9899-3EB1-3A408C73E5F0}"/>
              </a:ext>
            </a:extLst>
          </p:cNvPr>
          <p:cNvSpPr txBox="1"/>
          <p:nvPr/>
        </p:nvSpPr>
        <p:spPr>
          <a:xfrm>
            <a:off x="5257800" y="2413000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1C0F50C-8B56-5CEA-98C2-984B89830EC2}"/>
              </a:ext>
            </a:extLst>
          </p:cNvPr>
          <p:cNvSpPr/>
          <p:nvPr/>
        </p:nvSpPr>
        <p:spPr>
          <a:xfrm>
            <a:off x="2461185" y="1816100"/>
            <a:ext cx="2143779" cy="2209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2FE29AB-AAAF-F080-FEF8-D94C8C740D51}"/>
              </a:ext>
            </a:extLst>
          </p:cNvPr>
          <p:cNvSpPr/>
          <p:nvPr/>
        </p:nvSpPr>
        <p:spPr>
          <a:xfrm>
            <a:off x="4185910" y="1308100"/>
            <a:ext cx="2143779" cy="2209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5826219-A363-7A2F-EE84-016CC778274A}"/>
              </a:ext>
            </a:extLst>
          </p:cNvPr>
          <p:cNvSpPr/>
          <p:nvPr/>
        </p:nvSpPr>
        <p:spPr>
          <a:xfrm>
            <a:off x="1614160" y="142875"/>
            <a:ext cx="5486728" cy="50683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4AEE39-7E97-1A15-AE35-600C519246CB}"/>
              </a:ext>
            </a:extLst>
          </p:cNvPr>
          <p:cNvSpPr txBox="1"/>
          <p:nvPr/>
        </p:nvSpPr>
        <p:spPr>
          <a:xfrm>
            <a:off x="3240803" y="715447"/>
            <a:ext cx="2418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Basket Analysis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268026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FF321-FDF5-610E-EA19-9A3D82DC7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FA8EDD-93C6-0F12-C337-A1DA39BD414C}"/>
              </a:ext>
            </a:extLst>
          </p:cNvPr>
          <p:cNvSpPr txBox="1"/>
          <p:nvPr/>
        </p:nvSpPr>
        <p:spPr>
          <a:xfrm>
            <a:off x="2854684" y="292100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20A648-B5B0-5433-242F-E4CD089B7DA4}"/>
              </a:ext>
            </a:extLst>
          </p:cNvPr>
          <p:cNvSpPr txBox="1"/>
          <p:nvPr/>
        </p:nvSpPr>
        <p:spPr>
          <a:xfrm>
            <a:off x="5257800" y="2413000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391BB61-9CCB-285F-175B-81B6D7EC94FF}"/>
              </a:ext>
            </a:extLst>
          </p:cNvPr>
          <p:cNvSpPr/>
          <p:nvPr/>
        </p:nvSpPr>
        <p:spPr>
          <a:xfrm>
            <a:off x="2461185" y="1816100"/>
            <a:ext cx="2143779" cy="2209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F28BA87-1027-231D-5701-1F21D7A3E87E}"/>
              </a:ext>
            </a:extLst>
          </p:cNvPr>
          <p:cNvSpPr/>
          <p:nvPr/>
        </p:nvSpPr>
        <p:spPr>
          <a:xfrm>
            <a:off x="4185910" y="1308100"/>
            <a:ext cx="2143779" cy="2209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2E15ACB-7D01-AE3F-5E51-5C7F2436170B}"/>
              </a:ext>
            </a:extLst>
          </p:cNvPr>
          <p:cNvSpPr/>
          <p:nvPr/>
        </p:nvSpPr>
        <p:spPr>
          <a:xfrm>
            <a:off x="1614160" y="142875"/>
            <a:ext cx="5486728" cy="50683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C3D0F4-1AD4-1D37-0282-5A08F22D58F1}"/>
              </a:ext>
            </a:extLst>
          </p:cNvPr>
          <p:cNvSpPr txBox="1"/>
          <p:nvPr/>
        </p:nvSpPr>
        <p:spPr>
          <a:xfrm>
            <a:off x="3240803" y="715447"/>
            <a:ext cx="2418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Basket Analysis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2CA95B3-6296-1FCF-A02E-186363F8925D}"/>
              </a:ext>
            </a:extLst>
          </p:cNvPr>
          <p:cNvSpPr/>
          <p:nvPr/>
        </p:nvSpPr>
        <p:spPr>
          <a:xfrm>
            <a:off x="671513" y="-427593"/>
            <a:ext cx="6581775" cy="64198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BA2C9B-A93C-9315-2BBD-E552A2C3E3E9}"/>
              </a:ext>
            </a:extLst>
          </p:cNvPr>
          <p:cNvSpPr txBox="1"/>
          <p:nvPr/>
        </p:nvSpPr>
        <p:spPr>
          <a:xfrm>
            <a:off x="1114783" y="446127"/>
            <a:ext cx="137088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Mining</a:t>
            </a:r>
          </a:p>
        </p:txBody>
      </p:sp>
    </p:spTree>
    <p:extLst>
      <p:ext uri="{BB962C8B-B14F-4D97-AF65-F5344CB8AC3E}">
        <p14:creationId xmlns:p14="http://schemas.microsoft.com/office/powerpoint/2010/main" val="34980006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53057-12C7-4744-6BEC-6277E368D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DCDCCE-7587-439A-55C0-E55B7F9D9DC7}"/>
              </a:ext>
            </a:extLst>
          </p:cNvPr>
          <p:cNvSpPr txBox="1"/>
          <p:nvPr/>
        </p:nvSpPr>
        <p:spPr>
          <a:xfrm>
            <a:off x="397013" y="300037"/>
            <a:ext cx="193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Metodologi</a:t>
            </a:r>
            <a:endParaRPr lang="en-ID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BB83782-AD6E-4EA9-286F-38988240DD70}"/>
              </a:ext>
            </a:extLst>
          </p:cNvPr>
          <p:cNvSpPr/>
          <p:nvPr/>
        </p:nvSpPr>
        <p:spPr>
          <a:xfrm>
            <a:off x="554037" y="1291070"/>
            <a:ext cx="2243138" cy="122872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A64C384-274D-64CF-D27B-F06BDCF2CCE1}"/>
              </a:ext>
            </a:extLst>
          </p:cNvPr>
          <p:cNvSpPr/>
          <p:nvPr/>
        </p:nvSpPr>
        <p:spPr>
          <a:xfrm>
            <a:off x="554037" y="3058681"/>
            <a:ext cx="2243138" cy="122872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699C7A-2D05-839C-3B64-898BAEE1A6DA}"/>
              </a:ext>
            </a:extLst>
          </p:cNvPr>
          <p:cNvSpPr txBox="1"/>
          <p:nvPr/>
        </p:nvSpPr>
        <p:spPr>
          <a:xfrm>
            <a:off x="554037" y="936208"/>
            <a:ext cx="17267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 phase.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F63BB61-1D98-72FE-A3A7-A805478A01DB}"/>
              </a:ext>
            </a:extLst>
          </p:cNvPr>
          <p:cNvSpPr/>
          <p:nvPr/>
        </p:nvSpPr>
        <p:spPr>
          <a:xfrm>
            <a:off x="554037" y="4826292"/>
            <a:ext cx="2243138" cy="122872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8307E71-D646-E2E4-F92E-433BAD301930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>
            <a:off x="1675606" y="2519795"/>
            <a:ext cx="0" cy="5388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C6C5166-FE32-3527-C205-60B1F26EB6D6}"/>
              </a:ext>
            </a:extLst>
          </p:cNvPr>
          <p:cNvCxnSpPr>
            <a:cxnSpLocks/>
            <a:stCxn id="27" idx="2"/>
            <a:endCxn id="35" idx="0"/>
          </p:cNvCxnSpPr>
          <p:nvPr/>
        </p:nvCxnSpPr>
        <p:spPr>
          <a:xfrm>
            <a:off x="1675606" y="4287406"/>
            <a:ext cx="0" cy="538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90DBFEC0-397B-3424-2D68-7777292F82A8}"/>
              </a:ext>
            </a:extLst>
          </p:cNvPr>
          <p:cNvSpPr/>
          <p:nvPr/>
        </p:nvSpPr>
        <p:spPr>
          <a:xfrm>
            <a:off x="4204841" y="4826291"/>
            <a:ext cx="2243138" cy="122872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8561B72-FA94-5F56-E93A-DD58A6E7F940}"/>
              </a:ext>
            </a:extLst>
          </p:cNvPr>
          <p:cNvSpPr/>
          <p:nvPr/>
        </p:nvSpPr>
        <p:spPr>
          <a:xfrm>
            <a:off x="4204841" y="3058680"/>
            <a:ext cx="2243138" cy="122872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Recomendations</a:t>
            </a:r>
            <a:endParaRPr lang="en-ID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CFB8146-2081-F517-6B2B-6978FF7A592B}"/>
              </a:ext>
            </a:extLst>
          </p:cNvPr>
          <p:cNvCxnSpPr>
            <a:cxnSpLocks/>
            <a:stCxn id="35" idx="3"/>
            <a:endCxn id="40" idx="1"/>
          </p:cNvCxnSpPr>
          <p:nvPr/>
        </p:nvCxnSpPr>
        <p:spPr>
          <a:xfrm flipV="1">
            <a:off x="2797175" y="5440654"/>
            <a:ext cx="140766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85426C0-248F-1F49-2CFC-F92AE5331FD2}"/>
              </a:ext>
            </a:extLst>
          </p:cNvPr>
          <p:cNvCxnSpPr>
            <a:cxnSpLocks/>
            <a:stCxn id="40" idx="0"/>
            <a:endCxn id="41" idx="2"/>
          </p:cNvCxnSpPr>
          <p:nvPr/>
        </p:nvCxnSpPr>
        <p:spPr>
          <a:xfrm flipV="1">
            <a:off x="5326410" y="4287405"/>
            <a:ext cx="0" cy="538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75AC7681-2C7D-342C-A42A-04B1C1AC32C2}"/>
              </a:ext>
            </a:extLst>
          </p:cNvPr>
          <p:cNvSpPr txBox="1"/>
          <p:nvPr/>
        </p:nvSpPr>
        <p:spPr>
          <a:xfrm>
            <a:off x="2829639" y="4855878"/>
            <a:ext cx="13885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catalyst</a:t>
            </a:r>
          </a:p>
          <a:p>
            <a:r>
              <a:rPr lang="en-ID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knowledge</a:t>
            </a:r>
          </a:p>
        </p:txBody>
      </p:sp>
    </p:spTree>
    <p:extLst>
      <p:ext uri="{BB962C8B-B14F-4D97-AF65-F5344CB8AC3E}">
        <p14:creationId xmlns:p14="http://schemas.microsoft.com/office/powerpoint/2010/main" val="2242801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D4817-70C8-4ECC-1CF8-AF54AE85E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06EBAF-D38A-97AF-255F-8C0503D79AA8}"/>
              </a:ext>
            </a:extLst>
          </p:cNvPr>
          <p:cNvSpPr txBox="1"/>
          <p:nvPr/>
        </p:nvSpPr>
        <p:spPr>
          <a:xfrm>
            <a:off x="2187468" y="1754015"/>
            <a:ext cx="5450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Sumber</a:t>
            </a:r>
            <a:r>
              <a:rPr lang="en-ID" sz="4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0B43AB-0C9A-269B-C000-3890EEAE7399}"/>
              </a:ext>
            </a:extLst>
          </p:cNvPr>
          <p:cNvSpPr txBox="1"/>
          <p:nvPr/>
        </p:nvSpPr>
        <p:spPr>
          <a:xfrm>
            <a:off x="2187468" y="2679978"/>
            <a:ext cx="48419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berasal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catatan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operasional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pegawai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Sampel data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diambil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observasi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dimulai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3 Maret </a:t>
            </a:r>
            <a:r>
              <a:rPr lang="en-ID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hingga</a:t>
            </a:r>
            <a:r>
              <a:rPr lang="en-ID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5 September 2026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data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berhasil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diinputkan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sebanyak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276 </a:t>
            </a:r>
            <a:r>
              <a:rPr lang="en-ID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endParaRPr lang="en-ID" dirty="0"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081743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96AC3-3AE6-518B-013A-BFC3437F0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CCDF12-078D-356A-80A9-D249E7BAE1D3}"/>
              </a:ext>
            </a:extLst>
          </p:cNvPr>
          <p:cNvSpPr txBox="1"/>
          <p:nvPr/>
        </p:nvSpPr>
        <p:spPr>
          <a:xfrm>
            <a:off x="2187468" y="1754015"/>
            <a:ext cx="5450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Sumber</a:t>
            </a:r>
            <a:r>
              <a:rPr lang="en-ID" sz="4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F2603-72DC-2CD1-E821-1ABCD3635D60}"/>
              </a:ext>
            </a:extLst>
          </p:cNvPr>
          <p:cNvSpPr txBox="1"/>
          <p:nvPr/>
        </p:nvSpPr>
        <p:spPr>
          <a:xfrm>
            <a:off x="2187468" y="2679978"/>
            <a:ext cx="48419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Metadata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tersedia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meliputi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tanggal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tanggal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keluar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perumahan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nomor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rumah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kg dan total.</a:t>
            </a:r>
          </a:p>
        </p:txBody>
      </p:sp>
    </p:spTree>
    <p:extLst>
      <p:ext uri="{BB962C8B-B14F-4D97-AF65-F5344CB8AC3E}">
        <p14:creationId xmlns:p14="http://schemas.microsoft.com/office/powerpoint/2010/main" val="7101205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793D1-4867-A969-4C45-5A3EBC384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EA82F1-78F5-D0C4-962B-6B98352B3A8A}"/>
              </a:ext>
            </a:extLst>
          </p:cNvPr>
          <p:cNvSpPr txBox="1"/>
          <p:nvPr/>
        </p:nvSpPr>
        <p:spPr>
          <a:xfrm>
            <a:off x="2187468" y="1754015"/>
            <a:ext cx="5450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Sumber</a:t>
            </a:r>
            <a:r>
              <a:rPr lang="en-ID" sz="4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0D18A1-B831-1550-8A27-C2C9D5A425EA}"/>
              </a:ext>
            </a:extLst>
          </p:cNvPr>
          <p:cNvSpPr txBox="1"/>
          <p:nvPr/>
        </p:nvSpPr>
        <p:spPr>
          <a:xfrm>
            <a:off x="2187468" y="2679978"/>
            <a:ext cx="48419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Metadata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tersedia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meliputi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tanggal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tanggal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keluar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perumahan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nomor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rumah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kg dan total.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9856670-531F-E6B9-8C1A-A8544C541D4A}"/>
              </a:ext>
            </a:extLst>
          </p:cNvPr>
          <p:cNvGraphicFramePr>
            <a:graphicFrameLocks noGrp="1"/>
          </p:cNvGraphicFramePr>
          <p:nvPr/>
        </p:nvGraphicFramePr>
        <p:xfrm>
          <a:off x="7179193" y="2679978"/>
          <a:ext cx="4122000" cy="339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1000">
                  <a:extLst>
                    <a:ext uri="{9D8B030D-6E8A-4147-A177-3AD203B41FA5}">
                      <a16:colId xmlns:a16="http://schemas.microsoft.com/office/drawing/2014/main" val="995553693"/>
                    </a:ext>
                  </a:extLst>
                </a:gridCol>
                <a:gridCol w="2061000">
                  <a:extLst>
                    <a:ext uri="{9D8B030D-6E8A-4147-A177-3AD203B41FA5}">
                      <a16:colId xmlns:a16="http://schemas.microsoft.com/office/drawing/2014/main" val="377478770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D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Makna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D" dirty="0">
                        <a:solidFill>
                          <a:schemeClr val="tx1"/>
                        </a:solidFill>
                        <a:latin typeface="Nunito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351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Tanggal</a:t>
                      </a:r>
                      <a:r>
                        <a:rPr lang="en-ID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Masuk</a:t>
                      </a:r>
                      <a:endParaRPr lang="en-ID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Waktu </a:t>
                      </a:r>
                      <a:r>
                        <a:rPr lang="en-ID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cucian</a:t>
                      </a:r>
                      <a:r>
                        <a:rPr lang="en-ID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masuk</a:t>
                      </a:r>
                      <a:r>
                        <a:rPr lang="en-ID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544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Tanggal</a:t>
                      </a:r>
                      <a:r>
                        <a:rPr lang="en-ID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Keluar</a:t>
                      </a:r>
                      <a:endParaRPr lang="en-ID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Waktu </a:t>
                      </a:r>
                      <a:r>
                        <a:rPr lang="en-ID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cucian</a:t>
                      </a:r>
                      <a:r>
                        <a:rPr lang="en-ID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keluar</a:t>
                      </a:r>
                      <a:r>
                        <a:rPr lang="en-ID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329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Perumahan</a:t>
                      </a:r>
                      <a:endParaRPr lang="en-ID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Lokasi </a:t>
                      </a:r>
                      <a:r>
                        <a:rPr lang="en-ID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antar</a:t>
                      </a:r>
                      <a:r>
                        <a:rPr lang="en-ID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cucian</a:t>
                      </a:r>
                      <a:r>
                        <a:rPr lang="en-ID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347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Nomor</a:t>
                      </a:r>
                      <a:r>
                        <a:rPr lang="en-ID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Rumah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Spesifikasi</a:t>
                      </a:r>
                      <a:r>
                        <a:rPr lang="en-ID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lokasi</a:t>
                      </a:r>
                      <a:r>
                        <a:rPr lang="en-ID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antar</a:t>
                      </a:r>
                      <a:r>
                        <a:rPr lang="en-ID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243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Variasi</a:t>
                      </a:r>
                      <a:endParaRPr lang="en-ID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Jenis </a:t>
                      </a:r>
                      <a:r>
                        <a:rPr lang="en-ID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layanan</a:t>
                      </a:r>
                      <a:r>
                        <a:rPr lang="en-ID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665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Kg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Berat </a:t>
                      </a:r>
                      <a:r>
                        <a:rPr lang="en-ID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cucian</a:t>
                      </a:r>
                      <a:r>
                        <a:rPr lang="en-ID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9759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Jumlah</a:t>
                      </a:r>
                      <a:r>
                        <a:rPr lang="en-ID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nominal </a:t>
                      </a:r>
                      <a:r>
                        <a:rPr lang="en-ID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transaksi</a:t>
                      </a:r>
                      <a:r>
                        <a:rPr lang="en-ID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3874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64267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18EA8-F1A0-D27B-BF10-90831800F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7B247C-0D61-0077-257D-5062B5AA851C}"/>
              </a:ext>
            </a:extLst>
          </p:cNvPr>
          <p:cNvSpPr txBox="1"/>
          <p:nvPr/>
        </p:nvSpPr>
        <p:spPr>
          <a:xfrm>
            <a:off x="2187468" y="1754015"/>
            <a:ext cx="5450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Data Compliance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643569-C490-6454-EA9B-763D8C5A441B}"/>
              </a:ext>
            </a:extLst>
          </p:cNvPr>
          <p:cNvSpPr txBox="1"/>
          <p:nvPr/>
        </p:nvSpPr>
        <p:spPr>
          <a:xfrm>
            <a:off x="2187468" y="2679978"/>
            <a:ext cx="48419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Meskipun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mendukung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pertumbuhan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ekonomi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terdapat</a:t>
            </a:r>
            <a:r>
              <a:rPr lang="en-ID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risiko</a:t>
            </a:r>
            <a:r>
              <a:rPr lang="en-ID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privasi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penyalahgunaan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keamanan</a:t>
            </a:r>
            <a:r>
              <a:rPr lang="en-ID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terdapat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obligasi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pengolah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mengolah</a:t>
            </a:r>
            <a:r>
              <a:rPr lang="en-ID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ID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ID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bertangung</a:t>
            </a:r>
            <a:r>
              <a:rPr lang="en-ID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jawab</a:t>
            </a:r>
            <a:r>
              <a:rPr lang="en-ID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Nnko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2026).</a:t>
            </a:r>
          </a:p>
        </p:txBody>
      </p:sp>
    </p:spTree>
    <p:extLst>
      <p:ext uri="{BB962C8B-B14F-4D97-AF65-F5344CB8AC3E}">
        <p14:creationId xmlns:p14="http://schemas.microsoft.com/office/powerpoint/2010/main" val="631307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F62FB-4456-E7B5-F112-A1E92407B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B5E033-620C-A51B-CCC9-A7EA3D9F8156}"/>
              </a:ext>
            </a:extLst>
          </p:cNvPr>
          <p:cNvSpPr txBox="1"/>
          <p:nvPr/>
        </p:nvSpPr>
        <p:spPr>
          <a:xfrm>
            <a:off x="515831" y="310977"/>
            <a:ext cx="545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8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Data Compliance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BE75E2-26E7-0CD0-BE2C-2915FA39274F}"/>
              </a:ext>
            </a:extLst>
          </p:cNvPr>
          <p:cNvSpPr txBox="1"/>
          <p:nvPr/>
        </p:nvSpPr>
        <p:spPr>
          <a:xfrm>
            <a:off x="515831" y="1022628"/>
            <a:ext cx="4841982" cy="1825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Persetujuan</a:t>
            </a:r>
            <a:endParaRPr lang="en-ID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5841" lvl="1" indent="-285750" algn="just">
              <a:lnSpc>
                <a:spcPts val="2854"/>
              </a:lnSpc>
              <a:buFont typeface="Courier New" panose="02070309020205020404" pitchFamily="49" charset="0"/>
              <a:buChar char="o"/>
            </a:pP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Penggunaan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data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telah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mendapatkan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izin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dari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pemilik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usaha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.</a:t>
            </a:r>
          </a:p>
          <a:p>
            <a:pPr marL="505841" lvl="1" indent="-285750" algn="just">
              <a:lnSpc>
                <a:spcPts val="2854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Data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hanya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digunakan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untuk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kepentingan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penelitian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96901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3A2E3-FDC2-B124-CEED-357C20900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C4EA86-28AF-43D7-08C2-209CAB2174DE}"/>
              </a:ext>
            </a:extLst>
          </p:cNvPr>
          <p:cNvSpPr txBox="1"/>
          <p:nvPr/>
        </p:nvSpPr>
        <p:spPr>
          <a:xfrm>
            <a:off x="515831" y="310977"/>
            <a:ext cx="545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8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Data Compliance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BACA34-DDDE-1665-FAFE-356F019EDEF5}"/>
              </a:ext>
            </a:extLst>
          </p:cNvPr>
          <p:cNvSpPr txBox="1"/>
          <p:nvPr/>
        </p:nvSpPr>
        <p:spPr>
          <a:xfrm>
            <a:off x="515831" y="1022628"/>
            <a:ext cx="4841982" cy="1825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Persetujuan</a:t>
            </a:r>
            <a:endParaRPr lang="en-ID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5841" lvl="1" indent="-285750" algn="just">
              <a:lnSpc>
                <a:spcPts val="2854"/>
              </a:lnSpc>
              <a:buFont typeface="Courier New" panose="02070309020205020404" pitchFamily="49" charset="0"/>
              <a:buChar char="o"/>
            </a:pP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Penggunaan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data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telah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mendapatkan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izin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dari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pemilik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usaha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.</a:t>
            </a:r>
          </a:p>
          <a:p>
            <a:pPr marL="505841" lvl="1" indent="-285750" algn="just">
              <a:lnSpc>
                <a:spcPts val="2854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Data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hanya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digunakan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untuk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kepentingan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penelitian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B3651F-9696-24F1-23D3-0ED43D2AC996}"/>
              </a:ext>
            </a:extLst>
          </p:cNvPr>
          <p:cNvSpPr txBox="1"/>
          <p:nvPr/>
        </p:nvSpPr>
        <p:spPr>
          <a:xfrm>
            <a:off x="515831" y="3069535"/>
            <a:ext cx="4841982" cy="2189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Keamanan</a:t>
            </a:r>
            <a:endParaRPr lang="en-ID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391" lvl="1" indent="-285750" algn="just">
              <a:lnSpc>
                <a:spcPts val="2887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Data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hanya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dapat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diakses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oleh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tim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penelitian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.</a:t>
            </a:r>
          </a:p>
          <a:p>
            <a:pPr marL="508391" lvl="1" indent="-285750" algn="just">
              <a:lnSpc>
                <a:spcPts val="2887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Tidak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disebarluaskan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kepada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pihak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lain (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terbatas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).</a:t>
            </a:r>
          </a:p>
          <a:p>
            <a:pPr marL="508391" lvl="1" indent="-285750" algn="just">
              <a:lnSpc>
                <a:spcPts val="2887"/>
              </a:lnSpc>
              <a:buFont typeface="Courier New" panose="02070309020205020404" pitchFamily="49" charset="0"/>
              <a:buChar char="o"/>
            </a:pP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Digunakan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hanya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selama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proses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penelitian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berlangsung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40803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09231-0476-0DD9-191D-5193EAF15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6D3EA9-1AEF-B187-FE5B-112981A42C23}"/>
              </a:ext>
            </a:extLst>
          </p:cNvPr>
          <p:cNvSpPr txBox="1"/>
          <p:nvPr/>
        </p:nvSpPr>
        <p:spPr>
          <a:xfrm>
            <a:off x="515831" y="310977"/>
            <a:ext cx="545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8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Data Compliance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C7C1F0-1299-047F-8C86-B9E48135B6E2}"/>
              </a:ext>
            </a:extLst>
          </p:cNvPr>
          <p:cNvSpPr txBox="1"/>
          <p:nvPr/>
        </p:nvSpPr>
        <p:spPr>
          <a:xfrm>
            <a:off x="515831" y="1022628"/>
            <a:ext cx="4841982" cy="1825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Persetujuan</a:t>
            </a:r>
            <a:endParaRPr lang="en-ID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5841" lvl="1" indent="-285750" algn="just">
              <a:lnSpc>
                <a:spcPts val="2854"/>
              </a:lnSpc>
              <a:buFont typeface="Courier New" panose="02070309020205020404" pitchFamily="49" charset="0"/>
              <a:buChar char="o"/>
            </a:pP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Penggunaan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data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telah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mendapatkan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izin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dari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pemilik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usaha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.</a:t>
            </a:r>
          </a:p>
          <a:p>
            <a:pPr marL="505841" lvl="1" indent="-285750" algn="just">
              <a:lnSpc>
                <a:spcPts val="2854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Data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hanya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digunakan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untuk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kepentingan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penelitian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174309-20FF-936A-EE76-889DEAC39ED7}"/>
              </a:ext>
            </a:extLst>
          </p:cNvPr>
          <p:cNvSpPr txBox="1"/>
          <p:nvPr/>
        </p:nvSpPr>
        <p:spPr>
          <a:xfrm>
            <a:off x="515831" y="3069535"/>
            <a:ext cx="4841982" cy="2189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Keamanan</a:t>
            </a:r>
            <a:endParaRPr lang="en-ID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391" lvl="1" indent="-285750" algn="just">
              <a:lnSpc>
                <a:spcPts val="2887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Data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hanya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dapat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diakses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oleh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tim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penelitian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.</a:t>
            </a:r>
          </a:p>
          <a:p>
            <a:pPr marL="508391" lvl="1" indent="-285750" algn="just">
              <a:lnSpc>
                <a:spcPts val="2887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Tidak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disebarluaskan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kepada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pihak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lain (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terbatas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).</a:t>
            </a:r>
          </a:p>
          <a:p>
            <a:pPr marL="508391" lvl="1" indent="-285750" algn="just">
              <a:lnSpc>
                <a:spcPts val="2887"/>
              </a:lnSpc>
              <a:buFont typeface="Courier New" panose="02070309020205020404" pitchFamily="49" charset="0"/>
              <a:buChar char="o"/>
            </a:pP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Digunakan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hanya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selama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proses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penelitian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berlangsung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33601A-959E-AF71-AC99-1525A31CD80C}"/>
              </a:ext>
            </a:extLst>
          </p:cNvPr>
          <p:cNvSpPr txBox="1"/>
          <p:nvPr/>
        </p:nvSpPr>
        <p:spPr>
          <a:xfrm>
            <a:off x="5966810" y="1022628"/>
            <a:ext cx="4841982" cy="2570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Privasi</a:t>
            </a:r>
            <a:endParaRPr lang="en-ID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2775" lvl="1" indent="-285750" algn="just">
              <a:lnSpc>
                <a:spcPts val="2944"/>
              </a:lnSpc>
              <a:buFont typeface="Courier New" panose="02070309020205020404" pitchFamily="49" charset="0"/>
              <a:buChar char="o"/>
            </a:pP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Identitas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pelanggan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tidak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digunakan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sebagai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variabel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analisis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.</a:t>
            </a:r>
          </a:p>
          <a:p>
            <a:pPr marL="512775" lvl="1" indent="-285750" algn="just">
              <a:lnSpc>
                <a:spcPts val="2944"/>
              </a:lnSpc>
              <a:buFont typeface="Courier New" panose="02070309020205020404" pitchFamily="49" charset="0"/>
              <a:buChar char="o"/>
            </a:pP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Informasi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pribadi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tidak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ditampilkan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pada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hasil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penelitian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.</a:t>
            </a:r>
          </a:p>
          <a:p>
            <a:pPr marL="512775" lvl="1" indent="-285750" algn="just">
              <a:lnSpc>
                <a:spcPts val="2944"/>
              </a:lnSpc>
              <a:buFont typeface="Courier New" panose="02070309020205020404" pitchFamily="49" charset="0"/>
              <a:buChar char="o"/>
            </a:pP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Analisis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difokuskan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pada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pola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transaksi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bukan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pada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individu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5075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1773433-5318-ECF5-CD3A-38542B3ED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699173"/>
              </p:ext>
            </p:extLst>
          </p:nvPr>
        </p:nvGraphicFramePr>
        <p:xfrm>
          <a:off x="2311918" y="3201389"/>
          <a:ext cx="4122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2000">
                  <a:extLst>
                    <a:ext uri="{9D8B030D-6E8A-4147-A177-3AD203B41FA5}">
                      <a16:colId xmlns:a16="http://schemas.microsoft.com/office/drawing/2014/main" val="9955536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D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Nama Fitur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351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 err="1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Tanggal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 Masuk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544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 err="1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Tanggal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Keluar</a:t>
                      </a:r>
                      <a:endParaRPr lang="en-ID" dirty="0">
                        <a:solidFill>
                          <a:schemeClr val="tx1"/>
                        </a:solidFill>
                        <a:latin typeface="Nunito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7158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 err="1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Perumahan</a:t>
                      </a:r>
                      <a:endParaRPr lang="en-ID" dirty="0">
                        <a:solidFill>
                          <a:schemeClr val="tx1"/>
                        </a:solidFill>
                        <a:latin typeface="Nunito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329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No </a:t>
                      </a:r>
                      <a:r>
                        <a:rPr lang="en-ID" dirty="0" err="1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Perumahan</a:t>
                      </a:r>
                      <a:endParaRPr lang="en-ID" dirty="0">
                        <a:solidFill>
                          <a:schemeClr val="tx1"/>
                        </a:solidFill>
                        <a:latin typeface="Nunito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347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 err="1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Variasi</a:t>
                      </a:r>
                      <a:endParaRPr lang="en-ID" dirty="0">
                        <a:solidFill>
                          <a:schemeClr val="tx1"/>
                        </a:solidFill>
                        <a:latin typeface="Nunito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243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Kg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8665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Total Harga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975966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1376349-DEFB-02EA-9728-A1EC5554F64D}"/>
              </a:ext>
            </a:extLst>
          </p:cNvPr>
          <p:cNvSpPr txBox="1"/>
          <p:nvPr/>
        </p:nvSpPr>
        <p:spPr>
          <a:xfrm>
            <a:off x="6003634" y="1229970"/>
            <a:ext cx="1847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ID" sz="7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E5F03B-4F1F-1696-1C61-A089E5174546}"/>
              </a:ext>
            </a:extLst>
          </p:cNvPr>
          <p:cNvSpPr txBox="1"/>
          <p:nvPr/>
        </p:nvSpPr>
        <p:spPr>
          <a:xfrm>
            <a:off x="2187468" y="1754015"/>
            <a:ext cx="5450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Preprocess</a:t>
            </a:r>
            <a:r>
              <a:rPr lang="en-ID" sz="4000" dirty="0"/>
              <a:t>i</a:t>
            </a:r>
            <a:r>
              <a:rPr lang="en-ID" sz="40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ng</a:t>
            </a:r>
            <a:endParaRPr lang="en-ID" sz="4000" i="1" dirty="0">
              <a:highlight>
                <a:srgbClr val="00FFFF"/>
              </a:highlight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A43113CB-3108-0C65-15A9-0D7ACB9D7859}"/>
              </a:ext>
            </a:extLst>
          </p:cNvPr>
          <p:cNvSpPr/>
          <p:nvPr/>
        </p:nvSpPr>
        <p:spPr>
          <a:xfrm>
            <a:off x="6433918" y="3771900"/>
            <a:ext cx="666970" cy="1843088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C9FD11-A6FD-7AEA-33D2-78E71525C288}"/>
              </a:ext>
            </a:extLst>
          </p:cNvPr>
          <p:cNvSpPr txBox="1"/>
          <p:nvPr/>
        </p:nvSpPr>
        <p:spPr>
          <a:xfrm>
            <a:off x="7218549" y="4508778"/>
            <a:ext cx="3320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Semula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terdapat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sebanyak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 Fitur.</a:t>
            </a:r>
          </a:p>
        </p:txBody>
      </p:sp>
    </p:spTree>
    <p:extLst>
      <p:ext uri="{BB962C8B-B14F-4D97-AF65-F5344CB8AC3E}">
        <p14:creationId xmlns:p14="http://schemas.microsoft.com/office/powerpoint/2010/main" val="8737628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9492D7-EC61-1961-7A52-5F23311A6944}"/>
              </a:ext>
            </a:extLst>
          </p:cNvPr>
          <p:cNvGraphicFramePr>
            <a:graphicFrameLocks noGrp="1"/>
          </p:cNvGraphicFramePr>
          <p:nvPr/>
        </p:nvGraphicFramePr>
        <p:xfrm>
          <a:off x="2311918" y="3201389"/>
          <a:ext cx="4122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2000">
                  <a:extLst>
                    <a:ext uri="{9D8B030D-6E8A-4147-A177-3AD203B41FA5}">
                      <a16:colId xmlns:a16="http://schemas.microsoft.com/office/drawing/2014/main" val="9955536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D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Nama Fitur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351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 err="1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Tanggal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 Masuk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544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 err="1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Perumahan</a:t>
                      </a:r>
                      <a:endParaRPr lang="en-ID" dirty="0">
                        <a:solidFill>
                          <a:schemeClr val="tx1"/>
                        </a:solidFill>
                        <a:latin typeface="Nunito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329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No </a:t>
                      </a:r>
                      <a:r>
                        <a:rPr lang="en-ID" dirty="0" err="1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Perumahan</a:t>
                      </a:r>
                      <a:endParaRPr lang="en-ID" dirty="0">
                        <a:solidFill>
                          <a:schemeClr val="tx1"/>
                        </a:solidFill>
                        <a:latin typeface="Nunito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347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 err="1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Variasi</a:t>
                      </a:r>
                      <a:endParaRPr lang="en-ID" dirty="0">
                        <a:solidFill>
                          <a:schemeClr val="tx1"/>
                        </a:solidFill>
                        <a:latin typeface="Nunito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243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Kg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665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Total Harga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75966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E1275AF-253A-5B4E-F0AC-935EABC75A59}"/>
              </a:ext>
            </a:extLst>
          </p:cNvPr>
          <p:cNvSpPr txBox="1"/>
          <p:nvPr/>
        </p:nvSpPr>
        <p:spPr>
          <a:xfrm>
            <a:off x="6003634" y="1229970"/>
            <a:ext cx="1847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ID" sz="7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1953DE31-00E2-965C-AA47-A91F2131B760}"/>
              </a:ext>
            </a:extLst>
          </p:cNvPr>
          <p:cNvSpPr/>
          <p:nvPr/>
        </p:nvSpPr>
        <p:spPr>
          <a:xfrm>
            <a:off x="6433918" y="3771900"/>
            <a:ext cx="666970" cy="1843088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3E7259-C110-0F32-9048-8BB9140B32F7}"/>
              </a:ext>
            </a:extLst>
          </p:cNvPr>
          <p:cNvSpPr txBox="1"/>
          <p:nvPr/>
        </p:nvSpPr>
        <p:spPr>
          <a:xfrm>
            <a:off x="7218549" y="4508778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Lalu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fitur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enklusi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sebanyak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B99369-F38C-CCDC-8C60-CDBEE0890ABB}"/>
              </a:ext>
            </a:extLst>
          </p:cNvPr>
          <p:cNvSpPr txBox="1"/>
          <p:nvPr/>
        </p:nvSpPr>
        <p:spPr>
          <a:xfrm>
            <a:off x="2187468" y="1754015"/>
            <a:ext cx="5450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Preprocess</a:t>
            </a:r>
            <a:r>
              <a:rPr lang="en-ID" sz="4000" dirty="0"/>
              <a:t>i</a:t>
            </a:r>
            <a:r>
              <a:rPr lang="en-ID" sz="40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ng</a:t>
            </a:r>
            <a:endParaRPr lang="en-ID" sz="4000" i="1" dirty="0">
              <a:highlight>
                <a:srgbClr val="00FFFF"/>
              </a:highlight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4853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1962CAF-7FD5-7CAE-8000-B75DD69683F3}"/>
              </a:ext>
            </a:extLst>
          </p:cNvPr>
          <p:cNvGraphicFramePr>
            <a:graphicFrameLocks noGrp="1"/>
          </p:cNvGraphicFramePr>
          <p:nvPr/>
        </p:nvGraphicFramePr>
        <p:xfrm>
          <a:off x="2311918" y="3201389"/>
          <a:ext cx="4122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2000">
                  <a:extLst>
                    <a:ext uri="{9D8B030D-6E8A-4147-A177-3AD203B41FA5}">
                      <a16:colId xmlns:a16="http://schemas.microsoft.com/office/drawing/2014/main" val="9955536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D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Nama Fitur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351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D" dirty="0">
                        <a:solidFill>
                          <a:schemeClr val="tx1"/>
                        </a:solidFill>
                        <a:latin typeface="Nunito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544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D" dirty="0">
                        <a:solidFill>
                          <a:schemeClr val="tx1"/>
                        </a:solidFill>
                        <a:latin typeface="Nunito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329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D" dirty="0">
                        <a:solidFill>
                          <a:schemeClr val="tx1"/>
                        </a:solidFill>
                        <a:latin typeface="Nunito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347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 err="1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Variasi</a:t>
                      </a:r>
                      <a:endParaRPr lang="en-ID" dirty="0">
                        <a:solidFill>
                          <a:schemeClr val="tx1"/>
                        </a:solidFill>
                        <a:latin typeface="Nunito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243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D" dirty="0">
                        <a:solidFill>
                          <a:schemeClr val="tx1"/>
                        </a:solidFill>
                        <a:latin typeface="Nunito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665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D" dirty="0">
                        <a:solidFill>
                          <a:schemeClr val="tx1"/>
                        </a:solidFill>
                        <a:latin typeface="Nunito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7596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837B496-8ABB-DDB3-75C6-948EFA6E05F6}"/>
              </a:ext>
            </a:extLst>
          </p:cNvPr>
          <p:cNvSpPr txBox="1"/>
          <p:nvPr/>
        </p:nvSpPr>
        <p:spPr>
          <a:xfrm>
            <a:off x="6003634" y="1229970"/>
            <a:ext cx="1847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ID" sz="7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4B8DEA-A1C0-2A9B-57D4-3709FDFB7296}"/>
              </a:ext>
            </a:extLst>
          </p:cNvPr>
          <p:cNvSpPr txBox="1"/>
          <p:nvPr/>
        </p:nvSpPr>
        <p:spPr>
          <a:xfrm>
            <a:off x="7218549" y="4508778"/>
            <a:ext cx="2242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Menyisakan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fitur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B934A10-0DB7-6C83-5460-3539FF479549}"/>
              </a:ext>
            </a:extLst>
          </p:cNvPr>
          <p:cNvCxnSpPr>
            <a:stCxn id="8" idx="1"/>
          </p:cNvCxnSpPr>
          <p:nvPr/>
        </p:nvCxnSpPr>
        <p:spPr>
          <a:xfrm flipH="1">
            <a:off x="6433918" y="4693444"/>
            <a:ext cx="784631" cy="1846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8AC8465-1D4E-D270-2B80-F009B91A148D}"/>
              </a:ext>
            </a:extLst>
          </p:cNvPr>
          <p:cNvSpPr txBox="1"/>
          <p:nvPr/>
        </p:nvSpPr>
        <p:spPr>
          <a:xfrm>
            <a:off x="2187468" y="1754015"/>
            <a:ext cx="5450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Preprocess</a:t>
            </a:r>
            <a:r>
              <a:rPr lang="en-ID" sz="4000" dirty="0"/>
              <a:t>i</a:t>
            </a:r>
            <a:r>
              <a:rPr lang="en-ID" sz="40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ng</a:t>
            </a:r>
            <a:endParaRPr lang="en-ID" sz="4000" i="1" dirty="0">
              <a:highlight>
                <a:srgbClr val="00FFFF"/>
              </a:highlight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2290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CE8C733-BEBA-E893-CCC5-A353938263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517998"/>
              </p:ext>
            </p:extLst>
          </p:nvPr>
        </p:nvGraphicFramePr>
        <p:xfrm>
          <a:off x="2311918" y="3201389"/>
          <a:ext cx="4122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2000">
                  <a:extLst>
                    <a:ext uri="{9D8B030D-6E8A-4147-A177-3AD203B41FA5}">
                      <a16:colId xmlns:a16="http://schemas.microsoft.com/office/drawing/2014/main" val="9955536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D" b="0" dirty="0" err="1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Variasi</a:t>
                      </a:r>
                      <a:endParaRPr lang="en-ID" b="0" dirty="0">
                        <a:solidFill>
                          <a:schemeClr val="tx1"/>
                        </a:solidFill>
                        <a:latin typeface="Nunito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351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D" dirty="0">
                        <a:solidFill>
                          <a:schemeClr val="tx1"/>
                        </a:solidFill>
                        <a:latin typeface="Nunito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544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D" dirty="0">
                        <a:solidFill>
                          <a:schemeClr val="tx1"/>
                        </a:solidFill>
                        <a:latin typeface="Nunito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329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D" dirty="0">
                        <a:solidFill>
                          <a:schemeClr val="tx1"/>
                        </a:solidFill>
                        <a:latin typeface="Nunito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347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D" dirty="0">
                        <a:solidFill>
                          <a:schemeClr val="tx1"/>
                        </a:solidFill>
                        <a:latin typeface="Nunito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243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D" dirty="0">
                        <a:solidFill>
                          <a:schemeClr val="tx1"/>
                        </a:solidFill>
                        <a:latin typeface="Nunito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665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D" dirty="0">
                        <a:solidFill>
                          <a:schemeClr val="tx1"/>
                        </a:solidFill>
                        <a:latin typeface="Nunito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7596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FB6F7A-DB66-D4B0-AB93-B717A9144F5E}"/>
              </a:ext>
            </a:extLst>
          </p:cNvPr>
          <p:cNvSpPr txBox="1"/>
          <p:nvPr/>
        </p:nvSpPr>
        <p:spPr>
          <a:xfrm>
            <a:off x="6003634" y="1229970"/>
            <a:ext cx="1847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ID" sz="7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30424C-B1AB-A450-50F5-B17BC6AFEC0D}"/>
              </a:ext>
            </a:extLst>
          </p:cNvPr>
          <p:cNvSpPr txBox="1"/>
          <p:nvPr/>
        </p:nvSpPr>
        <p:spPr>
          <a:xfrm>
            <a:off x="7218548" y="4508778"/>
            <a:ext cx="5082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Fitur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 Rules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D1979A5-F8E7-EBCF-7782-E442806A48FA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6433918" y="3429000"/>
            <a:ext cx="3326125" cy="10797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1513567-2F8B-2147-72A4-EE8D0697D6CC}"/>
              </a:ext>
            </a:extLst>
          </p:cNvPr>
          <p:cNvSpPr txBox="1"/>
          <p:nvPr/>
        </p:nvSpPr>
        <p:spPr>
          <a:xfrm>
            <a:off x="2187468" y="1754015"/>
            <a:ext cx="5450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Preprocess</a:t>
            </a:r>
            <a:r>
              <a:rPr lang="en-ID" sz="4000" dirty="0"/>
              <a:t>i</a:t>
            </a:r>
            <a:r>
              <a:rPr lang="en-ID" sz="40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ng</a:t>
            </a:r>
            <a:endParaRPr lang="en-ID" sz="4000" i="1" dirty="0">
              <a:highlight>
                <a:srgbClr val="00FFFF"/>
              </a:highlight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8708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4AED93A-F093-77D8-F9DC-1AD5791C0995}"/>
              </a:ext>
            </a:extLst>
          </p:cNvPr>
          <p:cNvGraphicFramePr>
            <a:graphicFrameLocks noGrp="1"/>
          </p:cNvGraphicFramePr>
          <p:nvPr/>
        </p:nvGraphicFramePr>
        <p:xfrm>
          <a:off x="2311918" y="3201389"/>
          <a:ext cx="4122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2000">
                  <a:extLst>
                    <a:ext uri="{9D8B030D-6E8A-4147-A177-3AD203B41FA5}">
                      <a16:colId xmlns:a16="http://schemas.microsoft.com/office/drawing/2014/main" val="9955536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D" dirty="0" err="1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Variasi</a:t>
                      </a:r>
                      <a:endParaRPr lang="en-ID" dirty="0">
                        <a:solidFill>
                          <a:schemeClr val="tx1"/>
                        </a:solidFill>
                        <a:latin typeface="Nunito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351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dirty="0" err="1">
                          <a:effectLst/>
                          <a:latin typeface="+mn-lt"/>
                        </a:rPr>
                        <a:t>cuci</a:t>
                      </a:r>
                      <a:r>
                        <a:rPr lang="en-ID" dirty="0">
                          <a:effectLst/>
                          <a:latin typeface="+mn-lt"/>
                        </a:rPr>
                        <a:t> </a:t>
                      </a:r>
                      <a:r>
                        <a:rPr lang="en-ID" dirty="0" err="1">
                          <a:effectLst/>
                          <a:latin typeface="+mn-lt"/>
                        </a:rPr>
                        <a:t>gosok</a:t>
                      </a:r>
                      <a:r>
                        <a:rPr lang="en-ID" dirty="0">
                          <a:effectLst/>
                          <a:latin typeface="+mn-lt"/>
                        </a:rPr>
                        <a:t> regular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544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dirty="0" err="1">
                          <a:effectLst/>
                          <a:latin typeface="+mn-lt"/>
                        </a:rPr>
                        <a:t>bedcover+sprei</a:t>
                      </a:r>
                      <a:endParaRPr lang="en-ID" dirty="0">
                        <a:effectLst/>
                        <a:latin typeface="+mn-lt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329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Cuci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Gosok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Express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347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karpet+kasur</a:t>
                      </a:r>
                      <a:endParaRPr lang="en-ID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243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n-NO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gosok cuci reguler, sprei+selimut</a:t>
                      </a:r>
                      <a:endParaRPr lang="en-ID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8665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bed </a:t>
                      </a:r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cover+gordeng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gosok</a:t>
                      </a:r>
                      <a:endParaRPr lang="en-ID" dirty="0">
                        <a:solidFill>
                          <a:schemeClr val="tx1"/>
                        </a:solidFill>
                        <a:latin typeface="Nunito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975966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12B5A40-9711-9A24-5EE5-569187A28362}"/>
              </a:ext>
            </a:extLst>
          </p:cNvPr>
          <p:cNvSpPr txBox="1"/>
          <p:nvPr/>
        </p:nvSpPr>
        <p:spPr>
          <a:xfrm>
            <a:off x="6003634" y="1229970"/>
            <a:ext cx="1847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ID" sz="7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B4E0061B-1FF8-1DCD-5DED-5660020B26E5}"/>
              </a:ext>
            </a:extLst>
          </p:cNvPr>
          <p:cNvSpPr/>
          <p:nvPr/>
        </p:nvSpPr>
        <p:spPr>
          <a:xfrm>
            <a:off x="6433918" y="3771900"/>
            <a:ext cx="666970" cy="1843088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30BE90-1073-F017-530C-1B4B7D48C953}"/>
              </a:ext>
            </a:extLst>
          </p:cNvPr>
          <p:cNvSpPr txBox="1"/>
          <p:nvPr/>
        </p:nvSpPr>
        <p:spPr>
          <a:xfrm>
            <a:off x="7218550" y="4508778"/>
            <a:ext cx="46972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Masalah</a:t>
            </a:r>
            <a:b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Disini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sampel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masih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berupa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dirty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  <a:b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dicatat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istilah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operasional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pegawai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merepresentasikan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nama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suatu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katalog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laundry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seragam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konsisten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D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1EAFF6-9FEF-6A16-0793-5CE84581B02C}"/>
              </a:ext>
            </a:extLst>
          </p:cNvPr>
          <p:cNvSpPr txBox="1"/>
          <p:nvPr/>
        </p:nvSpPr>
        <p:spPr>
          <a:xfrm>
            <a:off x="2187468" y="1754015"/>
            <a:ext cx="5450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Preprocess</a:t>
            </a:r>
            <a:r>
              <a:rPr lang="en-ID" sz="4000" dirty="0"/>
              <a:t>i</a:t>
            </a:r>
            <a:r>
              <a:rPr lang="en-ID" sz="40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ng</a:t>
            </a:r>
            <a:endParaRPr lang="en-ID" sz="4000" i="1" dirty="0">
              <a:highlight>
                <a:srgbClr val="00FFFF"/>
              </a:highlight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7968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BD649C-073B-9199-5EB4-7DFD39A77300}"/>
              </a:ext>
            </a:extLst>
          </p:cNvPr>
          <p:cNvGraphicFramePr>
            <a:graphicFrameLocks noGrp="1"/>
          </p:cNvGraphicFramePr>
          <p:nvPr/>
        </p:nvGraphicFramePr>
        <p:xfrm>
          <a:off x="2311918" y="3201389"/>
          <a:ext cx="4122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2000">
                  <a:extLst>
                    <a:ext uri="{9D8B030D-6E8A-4147-A177-3AD203B41FA5}">
                      <a16:colId xmlns:a16="http://schemas.microsoft.com/office/drawing/2014/main" val="9955536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D" dirty="0" err="1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Variasi</a:t>
                      </a:r>
                      <a:endParaRPr lang="en-ID" dirty="0">
                        <a:solidFill>
                          <a:schemeClr val="tx1"/>
                        </a:solidFill>
                        <a:latin typeface="Nunito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351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dirty="0" err="1">
                          <a:effectLst/>
                          <a:latin typeface="+mn-lt"/>
                        </a:rPr>
                        <a:t>cuci</a:t>
                      </a:r>
                      <a:r>
                        <a:rPr lang="en-ID" dirty="0">
                          <a:effectLst/>
                          <a:latin typeface="+mn-lt"/>
                        </a:rPr>
                        <a:t> </a:t>
                      </a:r>
                      <a:r>
                        <a:rPr lang="en-ID" dirty="0" err="1">
                          <a:effectLst/>
                          <a:latin typeface="+mn-lt"/>
                        </a:rPr>
                        <a:t>gosok</a:t>
                      </a:r>
                      <a:r>
                        <a:rPr lang="en-ID" dirty="0">
                          <a:effectLst/>
                          <a:latin typeface="+mn-lt"/>
                        </a:rPr>
                        <a:t> regular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544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dirty="0" err="1">
                          <a:effectLst/>
                          <a:latin typeface="+mn-lt"/>
                        </a:rPr>
                        <a:t>bedcover+sprei</a:t>
                      </a:r>
                      <a:endParaRPr lang="en-ID" dirty="0">
                        <a:effectLst/>
                        <a:latin typeface="+mn-lt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329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Cuci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Gosok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Express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347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karpet+kasur</a:t>
                      </a:r>
                      <a:endParaRPr lang="en-ID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243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n-NO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gosok cuci reguler, sprei+selimut</a:t>
                      </a:r>
                      <a:endParaRPr lang="en-ID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8665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bed </a:t>
                      </a:r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cover+gordeng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gosok</a:t>
                      </a:r>
                      <a:endParaRPr lang="en-ID" dirty="0">
                        <a:solidFill>
                          <a:schemeClr val="tx1"/>
                        </a:solidFill>
                        <a:latin typeface="Nunito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97596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196BD5A-B44F-B775-227F-74D6A82C4C78}"/>
              </a:ext>
            </a:extLst>
          </p:cNvPr>
          <p:cNvSpPr txBox="1"/>
          <p:nvPr/>
        </p:nvSpPr>
        <p:spPr>
          <a:xfrm>
            <a:off x="6003634" y="1229970"/>
            <a:ext cx="1847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ID" sz="7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64ED161-177D-F8E2-A24A-9E9229FB886A}"/>
              </a:ext>
            </a:extLst>
          </p:cNvPr>
          <p:cNvGraphicFramePr>
            <a:graphicFrameLocks noGrp="1"/>
          </p:cNvGraphicFramePr>
          <p:nvPr/>
        </p:nvGraphicFramePr>
        <p:xfrm>
          <a:off x="6893443" y="3201389"/>
          <a:ext cx="4122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1000">
                  <a:extLst>
                    <a:ext uri="{9D8B030D-6E8A-4147-A177-3AD203B41FA5}">
                      <a16:colId xmlns:a16="http://schemas.microsoft.com/office/drawing/2014/main" val="995553693"/>
                    </a:ext>
                  </a:extLst>
                </a:gridCol>
                <a:gridCol w="2061000">
                  <a:extLst>
                    <a:ext uri="{9D8B030D-6E8A-4147-A177-3AD203B41FA5}">
                      <a16:colId xmlns:a16="http://schemas.microsoft.com/office/drawing/2014/main" val="377478770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ID" dirty="0" err="1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Katalog</a:t>
                      </a:r>
                      <a:endParaRPr lang="en-ID" dirty="0">
                        <a:solidFill>
                          <a:schemeClr val="tx1"/>
                        </a:solidFill>
                        <a:latin typeface="Nunito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D" dirty="0">
                        <a:solidFill>
                          <a:schemeClr val="tx1"/>
                        </a:solidFill>
                        <a:latin typeface="Nunito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351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b="0" dirty="0" err="1">
                          <a:effectLst/>
                          <a:latin typeface="Nunito" pitchFamily="2" charset="0"/>
                        </a:rPr>
                        <a:t>Cuci</a:t>
                      </a:r>
                      <a:r>
                        <a:rPr lang="en-ID" b="0" dirty="0">
                          <a:effectLst/>
                          <a:latin typeface="Nunito" pitchFamily="2" charset="0"/>
                        </a:rPr>
                        <a:t> Kering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b="0" dirty="0">
                          <a:effectLst/>
                          <a:latin typeface="Nunito" pitchFamily="2" charset="0"/>
                        </a:rPr>
                        <a:t>Bantal &amp; Guling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544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b="0" dirty="0">
                          <a:effectLst/>
                          <a:latin typeface="Nunito" pitchFamily="2" charset="0"/>
                        </a:rPr>
                        <a:t>Sprei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b="0">
                          <a:effectLst/>
                          <a:latin typeface="Nunito" pitchFamily="2" charset="0"/>
                        </a:rPr>
                        <a:t>Boneka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329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b="0" dirty="0">
                          <a:effectLst/>
                          <a:latin typeface="Nunito" pitchFamily="2" charset="0"/>
                        </a:rPr>
                        <a:t>Bed Cover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b="0">
                          <a:effectLst/>
                          <a:latin typeface="Nunito" pitchFamily="2" charset="0"/>
                        </a:rPr>
                        <a:t>Sepatu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347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b="0" dirty="0" err="1">
                          <a:effectLst/>
                          <a:latin typeface="Nunito" pitchFamily="2" charset="0"/>
                        </a:rPr>
                        <a:t>Gordyn</a:t>
                      </a:r>
                      <a:endParaRPr lang="en-ID" b="0" dirty="0">
                        <a:effectLst/>
                        <a:latin typeface="Nunito" pitchFamily="2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b="0">
                          <a:effectLst/>
                          <a:latin typeface="Nunito" pitchFamily="2" charset="0"/>
                        </a:rPr>
                        <a:t>Topi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243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b="0" dirty="0" err="1">
                          <a:effectLst/>
                          <a:latin typeface="Nunito" pitchFamily="2" charset="0"/>
                        </a:rPr>
                        <a:t>Karpet</a:t>
                      </a:r>
                      <a:endParaRPr lang="en-ID" b="0" dirty="0">
                        <a:effectLst/>
                        <a:latin typeface="Nunito" pitchFamily="2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b="0" dirty="0" err="1">
                          <a:effectLst/>
                          <a:latin typeface="Nunito" pitchFamily="2" charset="0"/>
                        </a:rPr>
                        <a:t>Setrika</a:t>
                      </a:r>
                      <a:endParaRPr lang="en-ID" b="0" dirty="0">
                        <a:effectLst/>
                        <a:latin typeface="Nunito" pitchFamily="2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665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b="0" dirty="0" err="1">
                          <a:effectLst/>
                          <a:latin typeface="Nunito" pitchFamily="2" charset="0"/>
                        </a:rPr>
                        <a:t>Selimut</a:t>
                      </a:r>
                      <a:endParaRPr lang="en-ID" b="0" dirty="0">
                        <a:effectLst/>
                        <a:latin typeface="Nunito" pitchFamily="2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D" b="0" dirty="0">
                        <a:effectLst/>
                        <a:latin typeface="Nunito" pitchFamily="2" charset="0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975966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FE970D6-A716-3A73-A8CA-AC4AC135AFDD}"/>
              </a:ext>
            </a:extLst>
          </p:cNvPr>
          <p:cNvCxnSpPr/>
          <p:nvPr/>
        </p:nvCxnSpPr>
        <p:spPr>
          <a:xfrm>
            <a:off x="4086225" y="3800475"/>
            <a:ext cx="280721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F295518-5074-0579-5BBA-481463AFE7C4}"/>
              </a:ext>
            </a:extLst>
          </p:cNvPr>
          <p:cNvCxnSpPr/>
          <p:nvPr/>
        </p:nvCxnSpPr>
        <p:spPr>
          <a:xfrm>
            <a:off x="4071938" y="3814763"/>
            <a:ext cx="4857750" cy="1371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Right Brace 10">
            <a:extLst>
              <a:ext uri="{FF2B5EF4-FFF2-40B4-BE49-F238E27FC236}">
                <a16:creationId xmlns:a16="http://schemas.microsoft.com/office/drawing/2014/main" id="{BC112876-C06C-251B-3F4E-48177A0C660F}"/>
              </a:ext>
            </a:extLst>
          </p:cNvPr>
          <p:cNvSpPr/>
          <p:nvPr/>
        </p:nvSpPr>
        <p:spPr>
          <a:xfrm rot="5400000">
            <a:off x="5897130" y="4119556"/>
            <a:ext cx="432000" cy="3816000"/>
          </a:xfrm>
          <a:prstGeom prst="rightBrac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F07565-5120-B7B3-F6F2-E44A90F341A6}"/>
              </a:ext>
            </a:extLst>
          </p:cNvPr>
          <p:cNvSpPr txBox="1"/>
          <p:nvPr/>
        </p:nvSpPr>
        <p:spPr>
          <a:xfrm>
            <a:off x="4034998" y="6257844"/>
            <a:ext cx="4708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Maka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perlu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tranformasi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katalog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D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8DCB1D-BE8C-E74C-6560-385DD8073E75}"/>
              </a:ext>
            </a:extLst>
          </p:cNvPr>
          <p:cNvSpPr txBox="1"/>
          <p:nvPr/>
        </p:nvSpPr>
        <p:spPr>
          <a:xfrm>
            <a:off x="2187468" y="1754015"/>
            <a:ext cx="5450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Preprocess</a:t>
            </a:r>
            <a:r>
              <a:rPr lang="en-ID" sz="4000" dirty="0"/>
              <a:t>i</a:t>
            </a:r>
            <a:r>
              <a:rPr lang="en-ID" sz="40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ng</a:t>
            </a:r>
            <a:endParaRPr lang="en-ID" sz="4000" i="1" dirty="0">
              <a:highlight>
                <a:srgbClr val="00FFFF"/>
              </a:highlight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8858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B43F930-2344-0C63-C3B9-0E76F41FA3B9}"/>
              </a:ext>
            </a:extLst>
          </p:cNvPr>
          <p:cNvGraphicFramePr>
            <a:graphicFrameLocks noGrp="1"/>
          </p:cNvGraphicFramePr>
          <p:nvPr/>
        </p:nvGraphicFramePr>
        <p:xfrm>
          <a:off x="2311918" y="3201389"/>
          <a:ext cx="3204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4000">
                  <a:extLst>
                    <a:ext uri="{9D8B030D-6E8A-4147-A177-3AD203B41FA5}">
                      <a16:colId xmlns:a16="http://schemas.microsoft.com/office/drawing/2014/main" val="9955536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D" dirty="0" err="1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Variasi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ID" i="1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Dirty Data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351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dirty="0" err="1">
                          <a:effectLst/>
                          <a:latin typeface="+mn-lt"/>
                        </a:rPr>
                        <a:t>cuci</a:t>
                      </a:r>
                      <a:r>
                        <a:rPr lang="en-ID" dirty="0">
                          <a:effectLst/>
                          <a:latin typeface="+mn-lt"/>
                        </a:rPr>
                        <a:t> </a:t>
                      </a:r>
                      <a:r>
                        <a:rPr lang="en-ID" dirty="0" err="1">
                          <a:effectLst/>
                          <a:latin typeface="+mn-lt"/>
                        </a:rPr>
                        <a:t>gosok</a:t>
                      </a:r>
                      <a:r>
                        <a:rPr lang="en-ID" dirty="0">
                          <a:effectLst/>
                          <a:latin typeface="+mn-lt"/>
                        </a:rPr>
                        <a:t> regular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544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dirty="0" err="1">
                          <a:effectLst/>
                          <a:latin typeface="+mn-lt"/>
                        </a:rPr>
                        <a:t>bedcover+sprei</a:t>
                      </a:r>
                      <a:endParaRPr lang="en-ID" dirty="0">
                        <a:effectLst/>
                        <a:latin typeface="+mn-lt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329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Cuci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Gosok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Express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347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karpet+kasur</a:t>
                      </a:r>
                      <a:endParaRPr lang="en-ID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243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n-NO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gosok cuci reguler, sprei+selimut</a:t>
                      </a:r>
                      <a:endParaRPr lang="en-ID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8665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bed </a:t>
                      </a:r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cover+gordeng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gosok</a:t>
                      </a:r>
                      <a:endParaRPr lang="en-ID" dirty="0">
                        <a:solidFill>
                          <a:schemeClr val="tx1"/>
                        </a:solidFill>
                        <a:latin typeface="Nunito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97596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9EA7BF8-D744-DE78-B0DB-971CDB93F2AE}"/>
              </a:ext>
            </a:extLst>
          </p:cNvPr>
          <p:cNvSpPr txBox="1"/>
          <p:nvPr/>
        </p:nvSpPr>
        <p:spPr>
          <a:xfrm>
            <a:off x="6003634" y="1229970"/>
            <a:ext cx="1847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ID" sz="7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75CAFD7-55F2-F76D-3E63-DCB139DE72C1}"/>
              </a:ext>
            </a:extLst>
          </p:cNvPr>
          <p:cNvGraphicFramePr>
            <a:graphicFrameLocks noGrp="1"/>
          </p:cNvGraphicFramePr>
          <p:nvPr/>
        </p:nvGraphicFramePr>
        <p:xfrm>
          <a:off x="6893443" y="3201389"/>
          <a:ext cx="3060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0000">
                  <a:extLst>
                    <a:ext uri="{9D8B030D-6E8A-4147-A177-3AD203B41FA5}">
                      <a16:colId xmlns:a16="http://schemas.microsoft.com/office/drawing/2014/main" val="9955536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D" dirty="0" err="1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Variasi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ID" i="1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Transformed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351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dirty="0" err="1">
                          <a:effectLst/>
                          <a:latin typeface="+mn-lt"/>
                        </a:rPr>
                        <a:t>Cuci</a:t>
                      </a:r>
                      <a:r>
                        <a:rPr lang="en-ID" dirty="0">
                          <a:effectLst/>
                          <a:latin typeface="+mn-lt"/>
                        </a:rPr>
                        <a:t> Kering, </a:t>
                      </a:r>
                      <a:r>
                        <a:rPr lang="en-ID" dirty="0" err="1">
                          <a:effectLst/>
                          <a:latin typeface="+mn-lt"/>
                        </a:rPr>
                        <a:t>Setrika</a:t>
                      </a:r>
                      <a:endParaRPr lang="en-ID" dirty="0">
                        <a:effectLst/>
                        <a:latin typeface="+mn-lt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544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dirty="0">
                          <a:effectLst/>
                          <a:latin typeface="+mn-lt"/>
                        </a:rPr>
                        <a:t>Bedcover, Sprei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329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Cuci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Kering, </a:t>
                      </a:r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Setrika</a:t>
                      </a:r>
                      <a:endParaRPr lang="en-ID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347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Karpet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, Sprei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243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Cuci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Kering, Sprei, </a:t>
                      </a:r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Selimut</a:t>
                      </a:r>
                      <a:endParaRPr lang="en-ID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665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Bed Cover, </a:t>
                      </a:r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Gordyn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Cuci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Kering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75966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32809F9-142E-7026-4724-4A997775BDDC}"/>
              </a:ext>
            </a:extLst>
          </p:cNvPr>
          <p:cNvCxnSpPr/>
          <p:nvPr/>
        </p:nvCxnSpPr>
        <p:spPr>
          <a:xfrm>
            <a:off x="5715000" y="4614863"/>
            <a:ext cx="9001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F454FD7-0D75-3F9E-1CD1-4C33ED5E4F3C}"/>
              </a:ext>
            </a:extLst>
          </p:cNvPr>
          <p:cNvSpPr txBox="1"/>
          <p:nvPr/>
        </p:nvSpPr>
        <p:spPr>
          <a:xfrm>
            <a:off x="5711311" y="4245531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4E000E-0D14-2608-D4C6-DE8D49EA159B}"/>
              </a:ext>
            </a:extLst>
          </p:cNvPr>
          <p:cNvSpPr txBox="1"/>
          <p:nvPr/>
        </p:nvSpPr>
        <p:spPr>
          <a:xfrm>
            <a:off x="2187468" y="1754015"/>
            <a:ext cx="5450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Preprocess</a:t>
            </a:r>
            <a:r>
              <a:rPr lang="en-ID" sz="4000" dirty="0"/>
              <a:t>i</a:t>
            </a:r>
            <a:r>
              <a:rPr lang="en-ID" sz="40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ng</a:t>
            </a:r>
            <a:endParaRPr lang="en-ID" sz="4000" i="1" dirty="0">
              <a:highlight>
                <a:srgbClr val="00FFFF"/>
              </a:highlight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2873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AB27C31-178A-7B5E-46D5-A3B834BF90EE}"/>
              </a:ext>
            </a:extLst>
          </p:cNvPr>
          <p:cNvGraphicFramePr>
            <a:graphicFrameLocks noGrp="1"/>
          </p:cNvGraphicFramePr>
          <p:nvPr/>
        </p:nvGraphicFramePr>
        <p:xfrm>
          <a:off x="2311918" y="3201389"/>
          <a:ext cx="4122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2000">
                  <a:extLst>
                    <a:ext uri="{9D8B030D-6E8A-4147-A177-3AD203B41FA5}">
                      <a16:colId xmlns:a16="http://schemas.microsoft.com/office/drawing/2014/main" val="9955536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D" dirty="0" err="1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Variasi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ID" i="1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Transformed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351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dirty="0" err="1">
                          <a:effectLst/>
                          <a:latin typeface="+mn-lt"/>
                        </a:rPr>
                        <a:t>Cuci</a:t>
                      </a:r>
                      <a:r>
                        <a:rPr lang="en-ID" dirty="0">
                          <a:effectLst/>
                          <a:latin typeface="+mn-lt"/>
                        </a:rPr>
                        <a:t> Kering, </a:t>
                      </a:r>
                      <a:r>
                        <a:rPr lang="en-ID" dirty="0" err="1">
                          <a:effectLst/>
                          <a:latin typeface="+mn-lt"/>
                        </a:rPr>
                        <a:t>Setrika</a:t>
                      </a:r>
                      <a:endParaRPr lang="en-ID" dirty="0">
                        <a:effectLst/>
                        <a:latin typeface="+mn-lt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544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dirty="0">
                          <a:effectLst/>
                          <a:latin typeface="+mn-lt"/>
                        </a:rPr>
                        <a:t>Bedcover, Sprei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329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Cuci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Kering, </a:t>
                      </a:r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Setrika</a:t>
                      </a:r>
                      <a:endParaRPr lang="en-ID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347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Karpet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, Sprei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243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Cuci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Kering, </a:t>
                      </a:r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Selimut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, Sprei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8665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Bed Cover, </a:t>
                      </a:r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Cuci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Kering, </a:t>
                      </a:r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Gordyn</a:t>
                      </a:r>
                      <a:endParaRPr lang="en-ID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975966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C90DE16-CAC0-C007-2E78-0E60960C56F1}"/>
              </a:ext>
            </a:extLst>
          </p:cNvPr>
          <p:cNvSpPr txBox="1"/>
          <p:nvPr/>
        </p:nvSpPr>
        <p:spPr>
          <a:xfrm>
            <a:off x="6003634" y="1229970"/>
            <a:ext cx="1847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ID" sz="7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D90D67E2-A42F-5733-2FC2-0644527D1255}"/>
              </a:ext>
            </a:extLst>
          </p:cNvPr>
          <p:cNvSpPr/>
          <p:nvPr/>
        </p:nvSpPr>
        <p:spPr>
          <a:xfrm>
            <a:off x="6433918" y="3771900"/>
            <a:ext cx="666970" cy="1843088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1EAB87-950F-3B34-023B-5BAB9279DBBF}"/>
              </a:ext>
            </a:extLst>
          </p:cNvPr>
          <p:cNvSpPr txBox="1"/>
          <p:nvPr/>
        </p:nvSpPr>
        <p:spPr>
          <a:xfrm>
            <a:off x="7218550" y="4508778"/>
            <a:ext cx="4697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siap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diolah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6A3C63-3A84-AD3C-DF2F-130EA834708E}"/>
              </a:ext>
            </a:extLst>
          </p:cNvPr>
          <p:cNvSpPr txBox="1"/>
          <p:nvPr/>
        </p:nvSpPr>
        <p:spPr>
          <a:xfrm>
            <a:off x="2187468" y="1754015"/>
            <a:ext cx="5450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Preprocess</a:t>
            </a:r>
            <a:r>
              <a:rPr lang="en-ID" sz="4000" dirty="0"/>
              <a:t>i</a:t>
            </a:r>
            <a:r>
              <a:rPr lang="en-ID" sz="40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ng</a:t>
            </a:r>
            <a:endParaRPr lang="en-ID" sz="4000" i="1" dirty="0">
              <a:highlight>
                <a:srgbClr val="00FFFF"/>
              </a:highlight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7177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93A96-5BA1-A955-B474-64DFC01B6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944CC4-AF1B-23E5-D545-83C42A5E640E}"/>
              </a:ext>
            </a:extLst>
          </p:cNvPr>
          <p:cNvSpPr txBox="1"/>
          <p:nvPr/>
        </p:nvSpPr>
        <p:spPr>
          <a:xfrm>
            <a:off x="2187468" y="1754015"/>
            <a:ext cx="5450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Data Processing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050656-D5D8-A563-373C-9A80E50A420C}"/>
              </a:ext>
            </a:extLst>
          </p:cNvPr>
          <p:cNvSpPr txBox="1"/>
          <p:nvPr/>
        </p:nvSpPr>
        <p:spPr>
          <a:xfrm>
            <a:off x="2187468" y="2679978"/>
            <a:ext cx="1851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apriori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53B61D-17BC-68AA-25A3-8C235DD546A5}"/>
              </a:ext>
            </a:extLst>
          </p:cNvPr>
          <p:cNvSpPr txBox="1"/>
          <p:nvPr/>
        </p:nvSpPr>
        <p:spPr>
          <a:xfrm>
            <a:off x="3838468" y="2679978"/>
            <a:ext cx="4607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menghasikan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 rule.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2055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0C777-A281-1212-59E9-5C2F67B62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94F5DD-87FA-3A97-70D5-A79157DA9EFD}"/>
              </a:ext>
            </a:extLst>
          </p:cNvPr>
          <p:cNvSpPr txBox="1"/>
          <p:nvPr/>
        </p:nvSpPr>
        <p:spPr>
          <a:xfrm>
            <a:off x="515831" y="310977"/>
            <a:ext cx="545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Algoritma</a:t>
            </a:r>
            <a:r>
              <a:rPr lang="en-ID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apriori</a:t>
            </a:r>
            <a:endParaRPr lang="en-ID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E8A215-771C-69E7-1D97-FE8BD31A4B3B}"/>
              </a:ext>
            </a:extLst>
          </p:cNvPr>
          <p:cNvSpPr txBox="1"/>
          <p:nvPr/>
        </p:nvSpPr>
        <p:spPr>
          <a:xfrm>
            <a:off x="515831" y="1022628"/>
            <a:ext cx="48419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r>
              <a:rPr lang="en-ID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apriori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mampu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mengidentifikasi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kombinasi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itemsets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memperhatikan</a:t>
            </a:r>
            <a:r>
              <a:rPr lang="en-ID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minimum support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menentukan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kandidat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kandidat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asscociation</a:t>
            </a:r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rule 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(Pratama, 2024; Rahayu et al., 2024)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75FE35-52F7-C797-7267-5534ABEEA157}"/>
              </a:ext>
            </a:extLst>
          </p:cNvPr>
          <p:cNvSpPr txBox="1"/>
          <p:nvPr/>
        </p:nvSpPr>
        <p:spPr>
          <a:xfrm>
            <a:off x="194511" y="2914099"/>
            <a:ext cx="6093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797304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44428-4190-F9FD-3756-819DB6144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320D4F-185B-4AA0-10B7-83C44340CC72}"/>
              </a:ext>
            </a:extLst>
          </p:cNvPr>
          <p:cNvSpPr txBox="1"/>
          <p:nvPr/>
        </p:nvSpPr>
        <p:spPr>
          <a:xfrm>
            <a:off x="515831" y="310977"/>
            <a:ext cx="545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Algoritma</a:t>
            </a:r>
            <a:r>
              <a:rPr lang="en-ID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apriori</a:t>
            </a:r>
            <a:endParaRPr lang="en-ID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130EF0F-ED5F-6EF0-36BF-302C1E75B7C9}"/>
                  </a:ext>
                </a:extLst>
              </p:cNvPr>
              <p:cNvSpPr txBox="1"/>
              <p:nvPr/>
            </p:nvSpPr>
            <p:spPr>
              <a:xfrm>
                <a:off x="515831" y="3270682"/>
                <a:ext cx="4841982" cy="6731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𝑆𝑢𝑝𝑝𝑜𝑟𝑡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(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𝑇𝑟𝑎𝑛𝑠𝑎𝑐𝑡𝑖𝑜𝑛𝑠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𝐶𝑜𝑛𝑡𝑎𝑖𝑛𝑠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𝑇𝑟𝑎𝑛𝑠𝑎𝑐𝑡𝑖𝑜𝑛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ID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130EF0F-ED5F-6EF0-36BF-302C1E75B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31" y="3270682"/>
                <a:ext cx="4841982" cy="6731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9F28144-57A2-4B24-65F3-1FD65323385B}"/>
              </a:ext>
            </a:extLst>
          </p:cNvPr>
          <p:cNvSpPr txBox="1"/>
          <p:nvPr/>
        </p:nvSpPr>
        <p:spPr>
          <a:xfrm>
            <a:off x="668231" y="4359576"/>
            <a:ext cx="4841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Support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digunakan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untuk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menghitung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frekuensi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item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dalam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transaksi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dengan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cara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berikut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41A0909-CD76-5071-1C9B-0258CDAA73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92271"/>
              </p:ext>
            </p:extLst>
          </p:nvPr>
        </p:nvGraphicFramePr>
        <p:xfrm>
          <a:off x="6096000" y="2086862"/>
          <a:ext cx="4122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2000">
                  <a:extLst>
                    <a:ext uri="{9D8B030D-6E8A-4147-A177-3AD203B41FA5}">
                      <a16:colId xmlns:a16="http://schemas.microsoft.com/office/drawing/2014/main" val="1372720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D" dirty="0" err="1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Variasi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ID" i="1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Transformed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38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dirty="0" err="1">
                          <a:effectLst/>
                          <a:latin typeface="+mn-lt"/>
                        </a:rPr>
                        <a:t>Cuci</a:t>
                      </a:r>
                      <a:r>
                        <a:rPr lang="en-ID" dirty="0">
                          <a:effectLst/>
                          <a:latin typeface="+mn-lt"/>
                        </a:rPr>
                        <a:t> Kering, </a:t>
                      </a:r>
                      <a:r>
                        <a:rPr lang="en-ID" dirty="0" err="1">
                          <a:effectLst/>
                          <a:latin typeface="+mn-lt"/>
                        </a:rPr>
                        <a:t>Setrika</a:t>
                      </a:r>
                      <a:endParaRPr lang="en-ID" dirty="0">
                        <a:effectLst/>
                        <a:latin typeface="+mn-lt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129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dirty="0">
                          <a:effectLst/>
                          <a:latin typeface="+mn-lt"/>
                        </a:rPr>
                        <a:t>Bedcover, Sprei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5529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Cuci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Kering, </a:t>
                      </a:r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Setrika</a:t>
                      </a:r>
                      <a:endParaRPr lang="en-ID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7110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Karpet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, Sprei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6102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Cuci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Kering, </a:t>
                      </a:r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Selimut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, Sprei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953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Bed Cover, </a:t>
                      </a:r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Cuci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Kering, </a:t>
                      </a:r>
                      <a:r>
                        <a:rPr lang="en-ID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Gordyn</a:t>
                      </a:r>
                      <a:endParaRPr lang="en-ID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826081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ACB8B04-765F-FDA4-117E-CD1FE851BBDB}"/>
              </a:ext>
            </a:extLst>
          </p:cNvPr>
          <p:cNvCxnSpPr>
            <a:cxnSpLocks/>
          </p:cNvCxnSpPr>
          <p:nvPr/>
        </p:nvCxnSpPr>
        <p:spPr>
          <a:xfrm>
            <a:off x="5357813" y="3607281"/>
            <a:ext cx="6089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9769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E7F4A-8F68-5E1E-CF4F-7AE473149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1F5960-1717-F4CB-9819-E9E4FA969DAB}"/>
              </a:ext>
            </a:extLst>
          </p:cNvPr>
          <p:cNvSpPr txBox="1"/>
          <p:nvPr/>
        </p:nvSpPr>
        <p:spPr>
          <a:xfrm>
            <a:off x="515831" y="310977"/>
            <a:ext cx="545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Algoritma</a:t>
            </a:r>
            <a:r>
              <a:rPr lang="en-ID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apriori</a:t>
            </a:r>
            <a:endParaRPr lang="en-ID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C3683F1-7F0F-E29A-FA1B-60AFCA4D982A}"/>
                  </a:ext>
                </a:extLst>
              </p:cNvPr>
              <p:cNvSpPr txBox="1"/>
              <p:nvPr/>
            </p:nvSpPr>
            <p:spPr>
              <a:xfrm>
                <a:off x="515831" y="2053826"/>
                <a:ext cx="4841982" cy="6731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𝑆𝑢𝑝𝑝𝑜𝑟𝑡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(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𝑇𝑟𝑎𝑛𝑠𝑎𝑐𝑡𝑖𝑜𝑛𝑠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𝐶𝑜𝑛𝑡𝑎𝑖𝑛𝑠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𝑇𝑟𝑎𝑛𝑠𝑎𝑐𝑡𝑖𝑜𝑛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ID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C3683F1-7F0F-E29A-FA1B-60AFCA4D9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31" y="2053826"/>
                <a:ext cx="4841982" cy="6731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2D78A48-6E94-CD6D-D56A-D66E1750DDB9}"/>
              </a:ext>
            </a:extLst>
          </p:cNvPr>
          <p:cNvSpPr txBox="1"/>
          <p:nvPr/>
        </p:nvSpPr>
        <p:spPr>
          <a:xfrm>
            <a:off x="515831" y="3059668"/>
            <a:ext cx="4841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Misalnya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:</a:t>
            </a:r>
          </a:p>
          <a:p>
            <a:pPr algn="just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1.X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adalah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Cuci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Kering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96E02AA-6F4F-7B80-823A-8A1A101B70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610702"/>
              </p:ext>
            </p:extLst>
          </p:nvPr>
        </p:nvGraphicFramePr>
        <p:xfrm>
          <a:off x="6096000" y="2086862"/>
          <a:ext cx="4122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2000">
                  <a:extLst>
                    <a:ext uri="{9D8B030D-6E8A-4147-A177-3AD203B41FA5}">
                      <a16:colId xmlns:a16="http://schemas.microsoft.com/office/drawing/2014/main" val="1372720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D" dirty="0" err="1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Variasi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ID" i="1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Transformed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38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b="0" dirty="0" err="1">
                          <a:effectLst/>
                          <a:highlight>
                            <a:srgbClr val="00FF00"/>
                          </a:highlight>
                          <a:latin typeface="+mn-lt"/>
                        </a:rPr>
                        <a:t>Cuci</a:t>
                      </a:r>
                      <a:r>
                        <a:rPr lang="en-ID" b="0" dirty="0">
                          <a:effectLst/>
                          <a:highlight>
                            <a:srgbClr val="00FF00"/>
                          </a:highlight>
                          <a:latin typeface="+mn-lt"/>
                        </a:rPr>
                        <a:t> Kering</a:t>
                      </a:r>
                      <a:r>
                        <a:rPr lang="en-ID" b="0" dirty="0">
                          <a:effectLst/>
                          <a:latin typeface="+mn-lt"/>
                        </a:rPr>
                        <a:t>, </a:t>
                      </a:r>
                      <a:r>
                        <a:rPr lang="en-ID" b="0" dirty="0" err="1">
                          <a:effectLst/>
                          <a:latin typeface="+mn-lt"/>
                        </a:rPr>
                        <a:t>Setrika</a:t>
                      </a:r>
                      <a:endParaRPr lang="en-ID" b="0" dirty="0">
                        <a:effectLst/>
                        <a:latin typeface="+mn-lt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129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b="0" dirty="0">
                          <a:effectLst/>
                          <a:latin typeface="+mn-lt"/>
                        </a:rPr>
                        <a:t>Bedcover, Sprei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5529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b="0" dirty="0" err="1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Cuci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 Kering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D" b="0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Setrika</a:t>
                      </a:r>
                      <a:endParaRPr lang="en-ID" b="0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7110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b="0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Karpet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, Sprei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6102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b="0" dirty="0" err="1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Cuci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 Kering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D" b="0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Selimut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, Sprei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953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b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Bed Cover, </a:t>
                      </a:r>
                      <a:r>
                        <a:rPr lang="en-ID" b="0" dirty="0" err="1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Cuci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+mn-lt"/>
                          <a:cs typeface="Times New Roman" panose="02020603050405020304" pitchFamily="18" charset="0"/>
                        </a:rPr>
                        <a:t> Kering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D" b="0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Gordyn</a:t>
                      </a:r>
                      <a:endParaRPr lang="en-ID" b="0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826081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108DC84-30D5-6936-854B-B4535F003B7E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5357813" y="2390425"/>
            <a:ext cx="608997" cy="1216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08DE813-B047-4A96-CC2F-51BFF576F889}"/>
                  </a:ext>
                </a:extLst>
              </p:cNvPr>
              <p:cNvSpPr txBox="1"/>
              <p:nvPr/>
            </p:nvSpPr>
            <p:spPr>
              <a:xfrm>
                <a:off x="515831" y="5419326"/>
                <a:ext cx="4841982" cy="6099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𝑆𝑢𝑝𝑝𝑜𝑟𝑡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(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num>
                        <m:den/>
                      </m:f>
                    </m:oMath>
                  </m:oMathPara>
                </a14:m>
                <a:endParaRPr lang="en-ID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08DE813-B047-4A96-CC2F-51BFF576F8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31" y="5419326"/>
                <a:ext cx="4841982" cy="6099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>
            <a:extLst>
              <a:ext uri="{FF2B5EF4-FFF2-40B4-BE49-F238E27FC236}">
                <a16:creationId xmlns:a16="http://schemas.microsoft.com/office/drawing/2014/main" id="{9D52AC85-91D6-F4EE-E2FF-D0651052ED82}"/>
              </a:ext>
            </a:extLst>
          </p:cNvPr>
          <p:cNvSpPr/>
          <p:nvPr/>
        </p:nvSpPr>
        <p:spPr>
          <a:xfrm>
            <a:off x="3568700" y="5419326"/>
            <a:ext cx="266700" cy="28297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260396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273A1-1E64-D7A2-526C-588A5EED7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A8C932-076C-EB95-F81D-78B6C3F33AA5}"/>
              </a:ext>
            </a:extLst>
          </p:cNvPr>
          <p:cNvSpPr txBox="1"/>
          <p:nvPr/>
        </p:nvSpPr>
        <p:spPr>
          <a:xfrm>
            <a:off x="515831" y="310977"/>
            <a:ext cx="545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Algoritma</a:t>
            </a:r>
            <a:r>
              <a:rPr lang="en-ID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apriori</a:t>
            </a:r>
            <a:endParaRPr lang="en-ID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AAF88C6-D6D7-A61C-6EB1-DE69A3B3D4E6}"/>
                  </a:ext>
                </a:extLst>
              </p:cNvPr>
              <p:cNvSpPr txBox="1"/>
              <p:nvPr/>
            </p:nvSpPr>
            <p:spPr>
              <a:xfrm>
                <a:off x="515831" y="2053826"/>
                <a:ext cx="4841982" cy="6731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𝑆𝑢𝑝𝑝𝑜𝑟𝑡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(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𝑇𝑟𝑎𝑛𝑠𝑎𝑐𝑡𝑖𝑜𝑛𝑠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𝐶𝑜𝑛𝑡𝑎𝑖𝑛𝑠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𝑇𝑟𝑎𝑛𝑠𝑎𝑐𝑡𝑖𝑜𝑛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ID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AAF88C6-D6D7-A61C-6EB1-DE69A3B3D4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31" y="2053826"/>
                <a:ext cx="4841982" cy="6731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F000DDC-D17D-0AF4-5AA8-C20FB88A783B}"/>
              </a:ext>
            </a:extLst>
          </p:cNvPr>
          <p:cNvSpPr txBox="1"/>
          <p:nvPr/>
        </p:nvSpPr>
        <p:spPr>
          <a:xfrm>
            <a:off x="515831" y="3059668"/>
            <a:ext cx="48419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Misalnya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:</a:t>
            </a:r>
          </a:p>
          <a:p>
            <a:pPr algn="just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1.X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adalah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Cuci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Kering</a:t>
            </a:r>
          </a:p>
          <a:p>
            <a:pPr algn="just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2. X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dibagi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jumlah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transaksi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DA51840-CB19-B1F9-1FB3-2999321808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258972"/>
              </p:ext>
            </p:extLst>
          </p:nvPr>
        </p:nvGraphicFramePr>
        <p:xfrm>
          <a:off x="6096000" y="2086862"/>
          <a:ext cx="4122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2000">
                  <a:extLst>
                    <a:ext uri="{9D8B030D-6E8A-4147-A177-3AD203B41FA5}">
                      <a16:colId xmlns:a16="http://schemas.microsoft.com/office/drawing/2014/main" val="1372720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D" dirty="0" err="1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Variasi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ID" i="1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Transformed</a:t>
                      </a:r>
                      <a:r>
                        <a:rPr lang="en-ID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38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b="0" dirty="0" err="1">
                          <a:effectLst/>
                          <a:latin typeface="+mn-lt"/>
                        </a:rPr>
                        <a:t>Cuci</a:t>
                      </a:r>
                      <a:r>
                        <a:rPr lang="en-ID" b="0" dirty="0">
                          <a:effectLst/>
                          <a:latin typeface="+mn-lt"/>
                        </a:rPr>
                        <a:t> Kering, </a:t>
                      </a:r>
                      <a:r>
                        <a:rPr lang="en-ID" b="0" dirty="0" err="1">
                          <a:effectLst/>
                          <a:latin typeface="+mn-lt"/>
                        </a:rPr>
                        <a:t>Setrika</a:t>
                      </a:r>
                      <a:endParaRPr lang="en-ID" b="0" dirty="0">
                        <a:effectLst/>
                        <a:latin typeface="+mn-lt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129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b="0" dirty="0">
                          <a:effectLst/>
                          <a:latin typeface="+mn-lt"/>
                        </a:rPr>
                        <a:t>Bedcover, Sprei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529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b="0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Cuci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Kering, </a:t>
                      </a:r>
                      <a:r>
                        <a:rPr lang="en-ID" b="0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Setrika</a:t>
                      </a:r>
                      <a:endParaRPr lang="en-ID" b="0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110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b="0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Karpet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, Sprei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102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b="0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Cuci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Kering, </a:t>
                      </a:r>
                      <a:r>
                        <a:rPr lang="en-ID" b="0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Selimut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, Sprei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953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b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Bed Cover, </a:t>
                      </a:r>
                      <a:r>
                        <a:rPr lang="en-ID" b="0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Cuci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Kering, </a:t>
                      </a:r>
                      <a:r>
                        <a:rPr lang="en-ID" b="0" dirty="0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Gordyn</a:t>
                      </a:r>
                      <a:endParaRPr lang="en-ID" b="0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826081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6245CF8-C47C-C9D2-6280-24A8AD3A2DF5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5357813" y="2390425"/>
            <a:ext cx="608997" cy="1216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BB7C02-5611-A082-59F3-B73AE5A2A219}"/>
                  </a:ext>
                </a:extLst>
              </p:cNvPr>
              <p:cNvSpPr txBox="1"/>
              <p:nvPr/>
            </p:nvSpPr>
            <p:spPr>
              <a:xfrm>
                <a:off x="515831" y="5419326"/>
                <a:ext cx="4841982" cy="6099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𝑆𝑢𝑝𝑝𝑜𝑟𝑡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=0,6666666667</m:t>
                      </m:r>
                    </m:oMath>
                  </m:oMathPara>
                </a14:m>
                <a:endParaRPr lang="en-ID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BB7C02-5611-A082-59F3-B73AE5A2A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31" y="5419326"/>
                <a:ext cx="4841982" cy="6099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05599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B8CB6-A17E-A566-F85C-993DB97E5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405156-DA60-1C69-B09D-A55354096F38}"/>
              </a:ext>
            </a:extLst>
          </p:cNvPr>
          <p:cNvSpPr txBox="1"/>
          <p:nvPr/>
        </p:nvSpPr>
        <p:spPr>
          <a:xfrm>
            <a:off x="515831" y="310977"/>
            <a:ext cx="545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Algoritma</a:t>
            </a:r>
            <a:r>
              <a:rPr lang="en-ID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apriori</a:t>
            </a:r>
            <a:endParaRPr lang="en-ID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AD54F85-7D39-A1E9-A7C3-876A128D39BA}"/>
                  </a:ext>
                </a:extLst>
              </p:cNvPr>
              <p:cNvSpPr txBox="1"/>
              <p:nvPr/>
            </p:nvSpPr>
            <p:spPr>
              <a:xfrm>
                <a:off x="0" y="2434826"/>
                <a:ext cx="4841982" cy="6099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𝑆𝑢𝑝𝑝𝑜𝑟𝑡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=0,6666666667</m:t>
                      </m:r>
                    </m:oMath>
                  </m:oMathPara>
                </a14:m>
                <a:endParaRPr lang="en-ID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AD54F85-7D39-A1E9-A7C3-876A128D3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34826"/>
                <a:ext cx="4841982" cy="6099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56DEBCE3-B394-FE0A-1FC1-8EEDF574A899}"/>
              </a:ext>
            </a:extLst>
          </p:cNvPr>
          <p:cNvSpPr/>
          <p:nvPr/>
        </p:nvSpPr>
        <p:spPr>
          <a:xfrm>
            <a:off x="2641600" y="2434826"/>
            <a:ext cx="1638300" cy="60991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C96D9BF-F1E4-269B-1900-D61EE1F9F344}"/>
              </a:ext>
            </a:extLst>
          </p:cNvPr>
          <p:cNvCxnSpPr>
            <a:stCxn id="6" idx="6"/>
          </p:cNvCxnSpPr>
          <p:nvPr/>
        </p:nvCxnSpPr>
        <p:spPr>
          <a:xfrm>
            <a:off x="4279900" y="2739782"/>
            <a:ext cx="723900" cy="168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E93DB66-DF53-18F3-AE75-9650B539BC96}"/>
              </a:ext>
            </a:extLst>
          </p:cNvPr>
          <p:cNvSpPr txBox="1"/>
          <p:nvPr/>
        </p:nvSpPr>
        <p:spPr>
          <a:xfrm>
            <a:off x="5194300" y="2760541"/>
            <a:ext cx="4779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mengindikasikan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nilai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frekuensi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kemunculan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3054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09E48-A28E-DE39-D88E-7873CC334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976F2F-2261-FFA9-7666-932BDA3BE034}"/>
              </a:ext>
            </a:extLst>
          </p:cNvPr>
          <p:cNvSpPr txBox="1"/>
          <p:nvPr/>
        </p:nvSpPr>
        <p:spPr>
          <a:xfrm>
            <a:off x="515831" y="310977"/>
            <a:ext cx="545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Algoritma</a:t>
            </a:r>
            <a:r>
              <a:rPr lang="en-ID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apriori</a:t>
            </a:r>
            <a:endParaRPr lang="en-ID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01E159-03E9-07BE-B857-CB561D0F4C8D}"/>
                  </a:ext>
                </a:extLst>
              </p:cNvPr>
              <p:cNvSpPr txBox="1"/>
              <p:nvPr/>
            </p:nvSpPr>
            <p:spPr>
              <a:xfrm>
                <a:off x="0" y="2434826"/>
                <a:ext cx="4841982" cy="6099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𝑆𝑢𝑝𝑝𝑜𝑟𝑡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=0,6666666667</m:t>
                      </m:r>
                    </m:oMath>
                  </m:oMathPara>
                </a14:m>
                <a:endParaRPr lang="en-ID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01E159-03E9-07BE-B857-CB561D0F4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34826"/>
                <a:ext cx="4841982" cy="6099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2D97C61A-A77F-6FAB-35C1-B0EE6E87742C}"/>
              </a:ext>
            </a:extLst>
          </p:cNvPr>
          <p:cNvSpPr/>
          <p:nvPr/>
        </p:nvSpPr>
        <p:spPr>
          <a:xfrm>
            <a:off x="2641600" y="2434826"/>
            <a:ext cx="1638300" cy="60991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68AEAFC-D466-876E-D183-D658E48E2851}"/>
              </a:ext>
            </a:extLst>
          </p:cNvPr>
          <p:cNvCxnSpPr>
            <a:stCxn id="6" idx="6"/>
          </p:cNvCxnSpPr>
          <p:nvPr/>
        </p:nvCxnSpPr>
        <p:spPr>
          <a:xfrm>
            <a:off x="4279900" y="2739782"/>
            <a:ext cx="723900" cy="168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CACEF9A-9532-0006-34BE-CA588EBDE119}"/>
              </a:ext>
            </a:extLst>
          </p:cNvPr>
          <p:cNvSpPr txBox="1"/>
          <p:nvPr/>
        </p:nvSpPr>
        <p:spPr>
          <a:xfrm>
            <a:off x="5194300" y="2760541"/>
            <a:ext cx="4779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mengindikasikan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nilai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frekuensi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kemunculan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608700-BA1A-4B17-B16A-64AF91A38519}"/>
              </a:ext>
            </a:extLst>
          </p:cNvPr>
          <p:cNvSpPr txBox="1"/>
          <p:nvPr/>
        </p:nvSpPr>
        <p:spPr>
          <a:xfrm>
            <a:off x="812800" y="4013200"/>
            <a:ext cx="75200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Kami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sebanyak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273 data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setelah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semua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jumlah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support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diterapkan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0,05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artinya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nilai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frekuensi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dihasilkan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0,05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60245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5F69D-D58C-87F9-93F6-8CFFE22D8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962817-7B73-ACC7-5B39-007BDEFA64D7}"/>
              </a:ext>
            </a:extLst>
          </p:cNvPr>
          <p:cNvSpPr txBox="1"/>
          <p:nvPr/>
        </p:nvSpPr>
        <p:spPr>
          <a:xfrm>
            <a:off x="515831" y="310977"/>
            <a:ext cx="545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Algoritma</a:t>
            </a:r>
            <a:r>
              <a:rPr lang="en-ID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apriori</a:t>
            </a:r>
            <a:endParaRPr lang="en-ID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C752FE-F800-75E0-6065-F2664AECE70F}"/>
              </a:ext>
            </a:extLst>
          </p:cNvPr>
          <p:cNvSpPr txBox="1"/>
          <p:nvPr/>
        </p:nvSpPr>
        <p:spPr>
          <a:xfrm>
            <a:off x="515831" y="2375133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Hasil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65798F4-C2B0-CEED-B619-FF3D0F937D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774165"/>
              </p:ext>
            </p:extLst>
          </p:nvPr>
        </p:nvGraphicFramePr>
        <p:xfrm>
          <a:off x="1516063" y="1249680"/>
          <a:ext cx="3834892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1262">
                  <a:extLst>
                    <a:ext uri="{9D8B030D-6E8A-4147-A177-3AD203B41FA5}">
                      <a16:colId xmlns:a16="http://schemas.microsoft.com/office/drawing/2014/main" val="33087866"/>
                    </a:ext>
                  </a:extLst>
                </a:gridCol>
                <a:gridCol w="1103630">
                  <a:extLst>
                    <a:ext uri="{9D8B030D-6E8A-4147-A177-3AD203B41FA5}">
                      <a16:colId xmlns:a16="http://schemas.microsoft.com/office/drawing/2014/main" val="35713986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D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Support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D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Support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351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 err="1">
                          <a:effectLst/>
                        </a:rPr>
                        <a:t>Setrika</a:t>
                      </a:r>
                      <a:endParaRPr lang="en-ID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 dirty="0">
                          <a:effectLst/>
                        </a:rPr>
                        <a:t>0.652015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544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 err="1">
                          <a:effectLst/>
                        </a:rPr>
                        <a:t>Cuci</a:t>
                      </a:r>
                      <a:r>
                        <a:rPr lang="en-ID" dirty="0">
                          <a:effectLst/>
                        </a:rPr>
                        <a:t> Kering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>
                          <a:effectLst/>
                        </a:rPr>
                        <a:t>0.476190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329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 err="1">
                          <a:effectLst/>
                        </a:rPr>
                        <a:t>Setrika</a:t>
                      </a:r>
                      <a:r>
                        <a:rPr lang="en-ID" dirty="0">
                          <a:effectLst/>
                        </a:rPr>
                        <a:t>, </a:t>
                      </a:r>
                      <a:r>
                        <a:rPr lang="en-ID" dirty="0" err="1">
                          <a:effectLst/>
                        </a:rPr>
                        <a:t>Cuci</a:t>
                      </a:r>
                      <a:r>
                        <a:rPr lang="en-ID" dirty="0">
                          <a:effectLst/>
                        </a:rPr>
                        <a:t> Kering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 dirty="0">
                          <a:effectLst/>
                        </a:rPr>
                        <a:t>0.476190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347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>
                          <a:effectLst/>
                        </a:rPr>
                        <a:t>Sprei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>
                          <a:effectLst/>
                        </a:rPr>
                        <a:t>0.128205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243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 err="1">
                          <a:effectLst/>
                        </a:rPr>
                        <a:t>Cuci</a:t>
                      </a:r>
                      <a:r>
                        <a:rPr lang="en-ID" dirty="0">
                          <a:effectLst/>
                        </a:rPr>
                        <a:t> </a:t>
                      </a:r>
                      <a:r>
                        <a:rPr lang="en-ID" dirty="0" err="1">
                          <a:effectLst/>
                        </a:rPr>
                        <a:t>Lipat</a:t>
                      </a:r>
                      <a:endParaRPr lang="en-ID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>
                          <a:effectLst/>
                        </a:rPr>
                        <a:t>0.120879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8665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 err="1">
                          <a:effectLst/>
                        </a:rPr>
                        <a:t>Karpet</a:t>
                      </a:r>
                      <a:endParaRPr lang="en-ID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 dirty="0">
                          <a:effectLst/>
                        </a:rPr>
                        <a:t>0.117216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231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>
                          <a:effectLst/>
                        </a:rPr>
                        <a:t>Bed Cover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>
                          <a:effectLst/>
                        </a:rPr>
                        <a:t>0.109890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77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 err="1">
                          <a:effectLst/>
                        </a:rPr>
                        <a:t>Cuci</a:t>
                      </a:r>
                      <a:r>
                        <a:rPr lang="en-ID" dirty="0">
                          <a:effectLst/>
                        </a:rPr>
                        <a:t> Kering, Sprei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>
                          <a:effectLst/>
                        </a:rPr>
                        <a:t>0.054945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325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 err="1">
                          <a:effectLst/>
                        </a:rPr>
                        <a:t>Setrika</a:t>
                      </a:r>
                      <a:r>
                        <a:rPr lang="en-ID" dirty="0">
                          <a:effectLst/>
                        </a:rPr>
                        <a:t>, Sprei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>
                          <a:effectLst/>
                        </a:rPr>
                        <a:t>0.054945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16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 err="1">
                          <a:effectLst/>
                        </a:rPr>
                        <a:t>Setrika</a:t>
                      </a:r>
                      <a:r>
                        <a:rPr lang="en-ID" dirty="0">
                          <a:effectLst/>
                        </a:rPr>
                        <a:t>, </a:t>
                      </a:r>
                      <a:r>
                        <a:rPr lang="en-ID" dirty="0" err="1">
                          <a:effectLst/>
                        </a:rPr>
                        <a:t>Cuci</a:t>
                      </a:r>
                      <a:r>
                        <a:rPr lang="en-ID" dirty="0">
                          <a:effectLst/>
                        </a:rPr>
                        <a:t> Kering, Sprei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 dirty="0">
                          <a:effectLst/>
                        </a:rPr>
                        <a:t>0.054945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64863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5C0F9A0-19E1-21D1-D2CF-D0D7DAF78AA8}"/>
              </a:ext>
            </a:extLst>
          </p:cNvPr>
          <p:cNvSpPr txBox="1"/>
          <p:nvPr/>
        </p:nvSpPr>
        <p:spPr>
          <a:xfrm>
            <a:off x="5310665" y="1419999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min support 0,05</a:t>
            </a:r>
          </a:p>
        </p:txBody>
      </p:sp>
    </p:spTree>
    <p:extLst>
      <p:ext uri="{BB962C8B-B14F-4D97-AF65-F5344CB8AC3E}">
        <p14:creationId xmlns:p14="http://schemas.microsoft.com/office/powerpoint/2010/main" val="34798056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AA140-1CD4-9B31-7CDC-1FA74A25E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E94DD6-6781-E956-79EB-5C032985E9F3}"/>
              </a:ext>
            </a:extLst>
          </p:cNvPr>
          <p:cNvSpPr txBox="1"/>
          <p:nvPr/>
        </p:nvSpPr>
        <p:spPr>
          <a:xfrm>
            <a:off x="2187468" y="1754015"/>
            <a:ext cx="5450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Interpretasi</a:t>
            </a:r>
            <a:r>
              <a:rPr lang="en-ID" sz="4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dan </a:t>
            </a:r>
            <a:r>
              <a:rPr lang="en-ID" sz="4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Evaluasi</a:t>
            </a:r>
            <a:endParaRPr lang="en-ID" sz="4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9307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9FBB-1187-1F12-E07F-B78C2BB11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67A28EE-2005-09A4-7F5C-720E1AF0BAB6}"/>
              </a:ext>
            </a:extLst>
          </p:cNvPr>
          <p:cNvSpPr txBox="1"/>
          <p:nvPr/>
        </p:nvSpPr>
        <p:spPr>
          <a:xfrm>
            <a:off x="515831" y="310977"/>
            <a:ext cx="545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Interpretasi</a:t>
            </a:r>
            <a:r>
              <a:rPr lang="en-ID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dan </a:t>
            </a:r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Evaluasi</a:t>
            </a:r>
            <a:endParaRPr lang="en-ID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44E571-AB30-F7C2-CCF4-449BD26165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831" y="1031787"/>
            <a:ext cx="7155479" cy="50860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27728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10863-B425-EDDF-0396-E0BFACC6F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ACD2FF-0583-64AF-8588-ED53AAB02B48}"/>
              </a:ext>
            </a:extLst>
          </p:cNvPr>
          <p:cNvSpPr txBox="1"/>
          <p:nvPr/>
        </p:nvSpPr>
        <p:spPr>
          <a:xfrm>
            <a:off x="515831" y="310977"/>
            <a:ext cx="545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Interpretasi</a:t>
            </a:r>
            <a:r>
              <a:rPr lang="en-ID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dan </a:t>
            </a:r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Evaluasi</a:t>
            </a:r>
            <a:endParaRPr lang="en-ID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92B1E4-B220-40E5-2959-EA4909F146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790" y="1370984"/>
            <a:ext cx="8481500" cy="48266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00334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3BC4D-BC9F-AD2B-FCBD-7E79FDE64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BE371D6-3CAD-F462-95C5-894E57FBEDE3}"/>
              </a:ext>
            </a:extLst>
          </p:cNvPr>
          <p:cNvSpPr txBox="1"/>
          <p:nvPr/>
        </p:nvSpPr>
        <p:spPr>
          <a:xfrm>
            <a:off x="515831" y="310977"/>
            <a:ext cx="545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Interpretasi</a:t>
            </a:r>
            <a:r>
              <a:rPr lang="en-ID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dan </a:t>
            </a:r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Evaluasi</a:t>
            </a:r>
            <a:endParaRPr lang="en-ID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0A74B4-ACE2-2A10-2BA2-C9443788E1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831" y="1043839"/>
            <a:ext cx="7924799" cy="52685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92985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4D97A-3918-5021-D24F-1E81AD51D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186CFBA-A7B5-057B-0BC8-C02DE8755584}"/>
              </a:ext>
            </a:extLst>
          </p:cNvPr>
          <p:cNvSpPr txBox="1"/>
          <p:nvPr/>
        </p:nvSpPr>
        <p:spPr>
          <a:xfrm>
            <a:off x="515831" y="310977"/>
            <a:ext cx="545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Interpretasi</a:t>
            </a:r>
            <a:r>
              <a:rPr lang="en-ID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dan </a:t>
            </a:r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Evaluasi</a:t>
            </a:r>
            <a:endParaRPr lang="en-ID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BD642A-164A-C166-B953-2A1331651B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831" y="1115694"/>
            <a:ext cx="7653909" cy="43707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C246A04-F04A-56FE-AD6E-4B053FA3C6E8}"/>
              </a:ext>
            </a:extLst>
          </p:cNvPr>
          <p:cNvCxnSpPr/>
          <p:nvPr/>
        </p:nvCxnSpPr>
        <p:spPr>
          <a:xfrm flipH="1">
            <a:off x="8051800" y="4495800"/>
            <a:ext cx="419100" cy="622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B2DE174-26B0-753E-4D7A-B19144700FF2}"/>
              </a:ext>
            </a:extLst>
          </p:cNvPr>
          <p:cNvSpPr txBox="1"/>
          <p:nvPr/>
        </p:nvSpPr>
        <p:spPr>
          <a:xfrm>
            <a:off x="8585200" y="4051300"/>
            <a:ext cx="2845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pendapatan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terendah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77074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D9299-39E7-65B2-3006-6BE6DA605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577FDB-D285-1AB6-B51C-F22057837582}"/>
              </a:ext>
            </a:extLst>
          </p:cNvPr>
          <p:cNvSpPr txBox="1"/>
          <p:nvPr/>
        </p:nvSpPr>
        <p:spPr>
          <a:xfrm>
            <a:off x="515831" y="310977"/>
            <a:ext cx="545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Interpretasi</a:t>
            </a:r>
            <a:r>
              <a:rPr lang="en-ID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dan </a:t>
            </a:r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Evaluasi</a:t>
            </a:r>
            <a:endParaRPr lang="en-ID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F2C1C5-AEC7-35B4-4342-677387F8E2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880284"/>
              </p:ext>
            </p:extLst>
          </p:nvPr>
        </p:nvGraphicFramePr>
        <p:xfrm>
          <a:off x="515831" y="1249680"/>
          <a:ext cx="3834892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1262">
                  <a:extLst>
                    <a:ext uri="{9D8B030D-6E8A-4147-A177-3AD203B41FA5}">
                      <a16:colId xmlns:a16="http://schemas.microsoft.com/office/drawing/2014/main" val="33087866"/>
                    </a:ext>
                  </a:extLst>
                </a:gridCol>
                <a:gridCol w="1103630">
                  <a:extLst>
                    <a:ext uri="{9D8B030D-6E8A-4147-A177-3AD203B41FA5}">
                      <a16:colId xmlns:a16="http://schemas.microsoft.com/office/drawing/2014/main" val="35713986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D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Support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D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Support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351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 err="1">
                          <a:effectLst/>
                        </a:rPr>
                        <a:t>Setrika</a:t>
                      </a:r>
                      <a:endParaRPr lang="en-ID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 dirty="0">
                          <a:effectLst/>
                        </a:rPr>
                        <a:t>0.652015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544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 err="1">
                          <a:effectLst/>
                        </a:rPr>
                        <a:t>Cuci</a:t>
                      </a:r>
                      <a:r>
                        <a:rPr lang="en-ID" dirty="0">
                          <a:effectLst/>
                        </a:rPr>
                        <a:t> Kering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>
                          <a:effectLst/>
                        </a:rPr>
                        <a:t>0.476190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329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 err="1">
                          <a:effectLst/>
                        </a:rPr>
                        <a:t>Setrika</a:t>
                      </a:r>
                      <a:r>
                        <a:rPr lang="en-ID" dirty="0">
                          <a:effectLst/>
                        </a:rPr>
                        <a:t>, </a:t>
                      </a:r>
                      <a:r>
                        <a:rPr lang="en-ID" dirty="0" err="1">
                          <a:effectLst/>
                        </a:rPr>
                        <a:t>Cuci</a:t>
                      </a:r>
                      <a:r>
                        <a:rPr lang="en-ID" dirty="0">
                          <a:effectLst/>
                        </a:rPr>
                        <a:t> Kering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 dirty="0">
                          <a:effectLst/>
                        </a:rPr>
                        <a:t>0.476190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347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>
                          <a:effectLst/>
                        </a:rPr>
                        <a:t>Sprei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>
                          <a:effectLst/>
                        </a:rPr>
                        <a:t>0.128205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243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 err="1">
                          <a:effectLst/>
                        </a:rPr>
                        <a:t>Cuci</a:t>
                      </a:r>
                      <a:r>
                        <a:rPr lang="en-ID" dirty="0">
                          <a:effectLst/>
                        </a:rPr>
                        <a:t> </a:t>
                      </a:r>
                      <a:r>
                        <a:rPr lang="en-ID" dirty="0" err="1">
                          <a:effectLst/>
                        </a:rPr>
                        <a:t>Lipat</a:t>
                      </a:r>
                      <a:endParaRPr lang="en-ID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>
                          <a:effectLst/>
                        </a:rPr>
                        <a:t>0.120879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8665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 err="1">
                          <a:effectLst/>
                        </a:rPr>
                        <a:t>Karpet</a:t>
                      </a:r>
                      <a:endParaRPr lang="en-ID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 dirty="0">
                          <a:effectLst/>
                        </a:rPr>
                        <a:t>0.117216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231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>
                          <a:effectLst/>
                        </a:rPr>
                        <a:t>Bed Cover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>
                          <a:effectLst/>
                        </a:rPr>
                        <a:t>0.109890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77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 err="1">
                          <a:effectLst/>
                        </a:rPr>
                        <a:t>Cuci</a:t>
                      </a:r>
                      <a:r>
                        <a:rPr lang="en-ID" dirty="0">
                          <a:effectLst/>
                        </a:rPr>
                        <a:t> Kering, Sprei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>
                          <a:effectLst/>
                        </a:rPr>
                        <a:t>0.054945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325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 err="1">
                          <a:effectLst/>
                        </a:rPr>
                        <a:t>Setrika</a:t>
                      </a:r>
                      <a:r>
                        <a:rPr lang="en-ID" dirty="0">
                          <a:effectLst/>
                        </a:rPr>
                        <a:t>, Sprei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>
                          <a:effectLst/>
                        </a:rPr>
                        <a:t>0.054945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16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 err="1">
                          <a:effectLst/>
                        </a:rPr>
                        <a:t>Setrika</a:t>
                      </a:r>
                      <a:r>
                        <a:rPr lang="en-ID" dirty="0">
                          <a:effectLst/>
                        </a:rPr>
                        <a:t>, </a:t>
                      </a:r>
                      <a:r>
                        <a:rPr lang="en-ID" dirty="0" err="1">
                          <a:effectLst/>
                        </a:rPr>
                        <a:t>Cuci</a:t>
                      </a:r>
                      <a:r>
                        <a:rPr lang="en-ID" dirty="0">
                          <a:effectLst/>
                        </a:rPr>
                        <a:t> Kering, Sprei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 dirty="0">
                          <a:effectLst/>
                        </a:rPr>
                        <a:t>0.054945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648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086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403BD-EDAD-D270-239C-200A66DAC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EAC393-26E7-7D2A-40BA-AB53BAC9E624}"/>
              </a:ext>
            </a:extLst>
          </p:cNvPr>
          <p:cNvSpPr txBox="1"/>
          <p:nvPr/>
        </p:nvSpPr>
        <p:spPr>
          <a:xfrm>
            <a:off x="515831" y="310977"/>
            <a:ext cx="545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Interpretasi</a:t>
            </a:r>
            <a:r>
              <a:rPr lang="en-ID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dan </a:t>
            </a:r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Evaluasi</a:t>
            </a:r>
            <a:endParaRPr lang="en-ID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56EB88F-C5E9-2134-5512-87E4F3D20BC5}"/>
              </a:ext>
            </a:extLst>
          </p:cNvPr>
          <p:cNvGraphicFramePr>
            <a:graphicFrameLocks noGrp="1"/>
          </p:cNvGraphicFramePr>
          <p:nvPr/>
        </p:nvGraphicFramePr>
        <p:xfrm>
          <a:off x="515831" y="1249680"/>
          <a:ext cx="3834892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1262">
                  <a:extLst>
                    <a:ext uri="{9D8B030D-6E8A-4147-A177-3AD203B41FA5}">
                      <a16:colId xmlns:a16="http://schemas.microsoft.com/office/drawing/2014/main" val="33087866"/>
                    </a:ext>
                  </a:extLst>
                </a:gridCol>
                <a:gridCol w="1103630">
                  <a:extLst>
                    <a:ext uri="{9D8B030D-6E8A-4147-A177-3AD203B41FA5}">
                      <a16:colId xmlns:a16="http://schemas.microsoft.com/office/drawing/2014/main" val="35713986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D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Support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D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Support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351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 err="1">
                          <a:effectLst/>
                        </a:rPr>
                        <a:t>Setrika</a:t>
                      </a:r>
                      <a:endParaRPr lang="en-ID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 dirty="0">
                          <a:effectLst/>
                        </a:rPr>
                        <a:t>0.652015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544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 err="1">
                          <a:effectLst/>
                        </a:rPr>
                        <a:t>Cuci</a:t>
                      </a:r>
                      <a:r>
                        <a:rPr lang="en-ID" dirty="0">
                          <a:effectLst/>
                        </a:rPr>
                        <a:t> Kering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>
                          <a:effectLst/>
                        </a:rPr>
                        <a:t>0.476190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329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 err="1">
                          <a:effectLst/>
                        </a:rPr>
                        <a:t>Setrika</a:t>
                      </a:r>
                      <a:r>
                        <a:rPr lang="en-ID" dirty="0">
                          <a:effectLst/>
                        </a:rPr>
                        <a:t>, </a:t>
                      </a:r>
                      <a:r>
                        <a:rPr lang="en-ID" dirty="0" err="1">
                          <a:effectLst/>
                        </a:rPr>
                        <a:t>Cuci</a:t>
                      </a:r>
                      <a:r>
                        <a:rPr lang="en-ID" dirty="0">
                          <a:effectLst/>
                        </a:rPr>
                        <a:t> Kering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 dirty="0">
                          <a:effectLst/>
                        </a:rPr>
                        <a:t>0.476190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347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>
                          <a:effectLst/>
                        </a:rPr>
                        <a:t>Sprei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>
                          <a:effectLst/>
                        </a:rPr>
                        <a:t>0.128205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243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 err="1">
                          <a:effectLst/>
                        </a:rPr>
                        <a:t>Cuci</a:t>
                      </a:r>
                      <a:r>
                        <a:rPr lang="en-ID" dirty="0">
                          <a:effectLst/>
                        </a:rPr>
                        <a:t> </a:t>
                      </a:r>
                      <a:r>
                        <a:rPr lang="en-ID" dirty="0" err="1">
                          <a:effectLst/>
                        </a:rPr>
                        <a:t>Lipat</a:t>
                      </a:r>
                      <a:endParaRPr lang="en-ID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>
                          <a:effectLst/>
                        </a:rPr>
                        <a:t>0.120879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8665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 err="1">
                          <a:effectLst/>
                        </a:rPr>
                        <a:t>Karpet</a:t>
                      </a:r>
                      <a:endParaRPr lang="en-ID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 dirty="0">
                          <a:effectLst/>
                        </a:rPr>
                        <a:t>0.117216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231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>
                          <a:effectLst/>
                        </a:rPr>
                        <a:t>Bed Cover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>
                          <a:effectLst/>
                        </a:rPr>
                        <a:t>0.109890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77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 err="1">
                          <a:effectLst/>
                        </a:rPr>
                        <a:t>Cuci</a:t>
                      </a:r>
                      <a:r>
                        <a:rPr lang="en-ID" dirty="0">
                          <a:effectLst/>
                        </a:rPr>
                        <a:t> Kering, Sprei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>
                          <a:effectLst/>
                        </a:rPr>
                        <a:t>0.054945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325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 err="1">
                          <a:effectLst/>
                        </a:rPr>
                        <a:t>Setrika</a:t>
                      </a:r>
                      <a:r>
                        <a:rPr lang="en-ID" dirty="0">
                          <a:effectLst/>
                        </a:rPr>
                        <a:t>, Sprei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>
                          <a:effectLst/>
                        </a:rPr>
                        <a:t>0.054945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16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 err="1">
                          <a:effectLst/>
                        </a:rPr>
                        <a:t>Setrika</a:t>
                      </a:r>
                      <a:r>
                        <a:rPr lang="en-ID" dirty="0">
                          <a:effectLst/>
                        </a:rPr>
                        <a:t>, </a:t>
                      </a:r>
                      <a:r>
                        <a:rPr lang="en-ID" dirty="0" err="1">
                          <a:effectLst/>
                        </a:rPr>
                        <a:t>Cuci</a:t>
                      </a:r>
                      <a:r>
                        <a:rPr lang="en-ID" dirty="0">
                          <a:effectLst/>
                        </a:rPr>
                        <a:t> Kering, Sprei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 dirty="0">
                          <a:effectLst/>
                        </a:rPr>
                        <a:t>0.054945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648635"/>
                  </a:ext>
                </a:extLst>
              </a:tr>
            </a:tbl>
          </a:graphicData>
        </a:graphic>
      </p:graphicFrame>
      <p:sp>
        <p:nvSpPr>
          <p:cNvPr id="4" name="Google Shape;244;p19">
            <a:extLst>
              <a:ext uri="{FF2B5EF4-FFF2-40B4-BE49-F238E27FC236}">
                <a16:creationId xmlns:a16="http://schemas.microsoft.com/office/drawing/2014/main" id="{7524ABDA-3922-5241-B557-93109A133E12}"/>
              </a:ext>
            </a:extLst>
          </p:cNvPr>
          <p:cNvSpPr txBox="1"/>
          <p:nvPr/>
        </p:nvSpPr>
        <p:spPr>
          <a:xfrm>
            <a:off x="4951472" y="982771"/>
            <a:ext cx="6173728" cy="230652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l="-887" t="-1316"/>
            </a:stretch>
          </a:blip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 dirty="0">
                <a:latin typeface="Calibri"/>
                <a:ea typeface="Calibri"/>
                <a:cs typeface="Calibri"/>
                <a:sym typeface="Calibri"/>
              </a:rPr>
              <a:t> 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11469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BB242-1D97-0817-8B72-155A36544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7562C6E-B057-27F6-0716-B00871E17337}"/>
              </a:ext>
            </a:extLst>
          </p:cNvPr>
          <p:cNvSpPr txBox="1"/>
          <p:nvPr/>
        </p:nvSpPr>
        <p:spPr>
          <a:xfrm>
            <a:off x="515831" y="310977"/>
            <a:ext cx="545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Interpretasi</a:t>
            </a:r>
            <a:r>
              <a:rPr lang="en-ID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dan </a:t>
            </a:r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Evaluasi</a:t>
            </a:r>
            <a:endParaRPr lang="en-ID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E49EEBC-866C-0EAB-B24E-C2C829D40C06}"/>
              </a:ext>
            </a:extLst>
          </p:cNvPr>
          <p:cNvGraphicFramePr>
            <a:graphicFrameLocks noGrp="1"/>
          </p:cNvGraphicFramePr>
          <p:nvPr/>
        </p:nvGraphicFramePr>
        <p:xfrm>
          <a:off x="515831" y="1249680"/>
          <a:ext cx="3834892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1262">
                  <a:extLst>
                    <a:ext uri="{9D8B030D-6E8A-4147-A177-3AD203B41FA5}">
                      <a16:colId xmlns:a16="http://schemas.microsoft.com/office/drawing/2014/main" val="33087866"/>
                    </a:ext>
                  </a:extLst>
                </a:gridCol>
                <a:gridCol w="1103630">
                  <a:extLst>
                    <a:ext uri="{9D8B030D-6E8A-4147-A177-3AD203B41FA5}">
                      <a16:colId xmlns:a16="http://schemas.microsoft.com/office/drawing/2014/main" val="35713986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D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Support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D" dirty="0">
                          <a:solidFill>
                            <a:schemeClr val="tx1"/>
                          </a:solidFill>
                          <a:latin typeface="Nunito" pitchFamily="2" charset="0"/>
                          <a:cs typeface="Times New Roman" panose="02020603050405020304" pitchFamily="18" charset="0"/>
                        </a:rPr>
                        <a:t>Support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351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 err="1">
                          <a:effectLst/>
                        </a:rPr>
                        <a:t>Setrika</a:t>
                      </a:r>
                      <a:endParaRPr lang="en-ID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 dirty="0">
                          <a:effectLst/>
                        </a:rPr>
                        <a:t>0.652015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544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 err="1">
                          <a:effectLst/>
                        </a:rPr>
                        <a:t>Cuci</a:t>
                      </a:r>
                      <a:r>
                        <a:rPr lang="en-ID" dirty="0">
                          <a:effectLst/>
                        </a:rPr>
                        <a:t> Kering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>
                          <a:effectLst/>
                        </a:rPr>
                        <a:t>0.476190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329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 err="1">
                          <a:effectLst/>
                        </a:rPr>
                        <a:t>Setrika</a:t>
                      </a:r>
                      <a:r>
                        <a:rPr lang="en-ID" dirty="0">
                          <a:effectLst/>
                        </a:rPr>
                        <a:t>, </a:t>
                      </a:r>
                      <a:r>
                        <a:rPr lang="en-ID" dirty="0" err="1">
                          <a:effectLst/>
                        </a:rPr>
                        <a:t>Cuci</a:t>
                      </a:r>
                      <a:r>
                        <a:rPr lang="en-ID" dirty="0">
                          <a:effectLst/>
                        </a:rPr>
                        <a:t> Kering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 dirty="0">
                          <a:effectLst/>
                        </a:rPr>
                        <a:t>0.476190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347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>
                          <a:effectLst/>
                        </a:rPr>
                        <a:t>Sprei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>
                          <a:effectLst/>
                        </a:rPr>
                        <a:t>0.128205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243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 err="1">
                          <a:effectLst/>
                        </a:rPr>
                        <a:t>Cuci</a:t>
                      </a:r>
                      <a:r>
                        <a:rPr lang="en-ID" dirty="0">
                          <a:effectLst/>
                        </a:rPr>
                        <a:t> </a:t>
                      </a:r>
                      <a:r>
                        <a:rPr lang="en-ID" dirty="0" err="1">
                          <a:effectLst/>
                        </a:rPr>
                        <a:t>Lipat</a:t>
                      </a:r>
                      <a:endParaRPr lang="en-ID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>
                          <a:effectLst/>
                        </a:rPr>
                        <a:t>0.120879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8665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 err="1">
                          <a:effectLst/>
                        </a:rPr>
                        <a:t>Karpet</a:t>
                      </a:r>
                      <a:endParaRPr lang="en-ID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 dirty="0">
                          <a:effectLst/>
                        </a:rPr>
                        <a:t>0.117216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231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>
                          <a:effectLst/>
                        </a:rPr>
                        <a:t>Bed Cover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>
                          <a:effectLst/>
                        </a:rPr>
                        <a:t>0.109890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77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 err="1">
                          <a:effectLst/>
                        </a:rPr>
                        <a:t>Cuci</a:t>
                      </a:r>
                      <a:r>
                        <a:rPr lang="en-ID" dirty="0">
                          <a:effectLst/>
                        </a:rPr>
                        <a:t> Kering, Sprei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>
                          <a:effectLst/>
                        </a:rPr>
                        <a:t>0.054945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325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 err="1">
                          <a:effectLst/>
                        </a:rPr>
                        <a:t>Setrika</a:t>
                      </a:r>
                      <a:r>
                        <a:rPr lang="en-ID" dirty="0">
                          <a:effectLst/>
                        </a:rPr>
                        <a:t>, Sprei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>
                          <a:effectLst/>
                        </a:rPr>
                        <a:t>0.054945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16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dirty="0" err="1">
                          <a:effectLst/>
                        </a:rPr>
                        <a:t>Setrika</a:t>
                      </a:r>
                      <a:r>
                        <a:rPr lang="en-ID" dirty="0">
                          <a:effectLst/>
                        </a:rPr>
                        <a:t>, </a:t>
                      </a:r>
                      <a:r>
                        <a:rPr lang="en-ID" dirty="0" err="1">
                          <a:effectLst/>
                        </a:rPr>
                        <a:t>Cuci</a:t>
                      </a:r>
                      <a:r>
                        <a:rPr lang="en-ID" dirty="0">
                          <a:effectLst/>
                        </a:rPr>
                        <a:t> Kering, Sprei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 dirty="0">
                          <a:effectLst/>
                        </a:rPr>
                        <a:t>0.054945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648635"/>
                  </a:ext>
                </a:extLst>
              </a:tr>
            </a:tbl>
          </a:graphicData>
        </a:graphic>
      </p:graphicFrame>
      <p:sp>
        <p:nvSpPr>
          <p:cNvPr id="5" name="Google Shape;245;p19">
            <a:extLst>
              <a:ext uri="{FF2B5EF4-FFF2-40B4-BE49-F238E27FC236}">
                <a16:creationId xmlns:a16="http://schemas.microsoft.com/office/drawing/2014/main" id="{358B2410-778D-5182-BA2C-DF21C64DE920}"/>
              </a:ext>
            </a:extLst>
          </p:cNvPr>
          <p:cNvSpPr txBox="1"/>
          <p:nvPr/>
        </p:nvSpPr>
        <p:spPr>
          <a:xfrm>
            <a:off x="4519672" y="846897"/>
            <a:ext cx="7450078" cy="326159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l="-735" t="-745"/>
            </a:stretch>
          </a:blip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 dirty="0">
                <a:latin typeface="Calibri"/>
                <a:ea typeface="Calibri"/>
                <a:cs typeface="Calibri"/>
                <a:sym typeface="Calibri"/>
              </a:rPr>
              <a:t> </a:t>
            </a:r>
            <a:endParaRPr dirty="0"/>
          </a:p>
        </p:txBody>
      </p:sp>
      <p:sp>
        <p:nvSpPr>
          <p:cNvPr id="8" name="Google Shape;246;p19">
            <a:extLst>
              <a:ext uri="{FF2B5EF4-FFF2-40B4-BE49-F238E27FC236}">
                <a16:creationId xmlns:a16="http://schemas.microsoft.com/office/drawing/2014/main" id="{3483E633-BD22-A57A-AD01-E541F4B8AAA6}"/>
              </a:ext>
            </a:extLst>
          </p:cNvPr>
          <p:cNvSpPr txBox="1"/>
          <p:nvPr/>
        </p:nvSpPr>
        <p:spPr>
          <a:xfrm>
            <a:off x="6096000" y="4359424"/>
            <a:ext cx="3676650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NC = the number of transactions with the item that became consequent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= Number of Database Transactions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830900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D27AD-B262-BAE3-603A-1FA4D32F0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BFE1B7F-E91E-27DA-E4D1-4F7971EA07E9}"/>
              </a:ext>
            </a:extLst>
          </p:cNvPr>
          <p:cNvSpPr txBox="1"/>
          <p:nvPr/>
        </p:nvSpPr>
        <p:spPr>
          <a:xfrm>
            <a:off x="515831" y="310977"/>
            <a:ext cx="545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Interpretasi</a:t>
            </a:r>
            <a:r>
              <a:rPr lang="en-ID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dan </a:t>
            </a:r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Evaluasi</a:t>
            </a:r>
            <a:endParaRPr lang="en-ID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E73B8F-1AEE-7F6B-AD7E-CA22A6CB0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30" y="1371440"/>
            <a:ext cx="7850698" cy="309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647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171A0-640D-4E45-E061-36D4987FE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6AD463C-42B2-EB8C-9C7E-CEEF8E8F58CF}"/>
              </a:ext>
            </a:extLst>
          </p:cNvPr>
          <p:cNvSpPr txBox="1"/>
          <p:nvPr/>
        </p:nvSpPr>
        <p:spPr>
          <a:xfrm>
            <a:off x="515831" y="310977"/>
            <a:ext cx="545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Interpretasi</a:t>
            </a:r>
            <a:r>
              <a:rPr lang="en-ID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dan </a:t>
            </a:r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Evaluasi</a:t>
            </a:r>
            <a:endParaRPr lang="en-ID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490F81-B5A0-6F85-B2CE-3D08C2EE2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30" y="1371440"/>
            <a:ext cx="7850698" cy="3098960"/>
          </a:xfrm>
          <a:prstGeom prst="rect">
            <a:avLst/>
          </a:prstGeom>
        </p:spPr>
      </p:pic>
      <p:sp>
        <p:nvSpPr>
          <p:cNvPr id="7" name="Right Brace 6">
            <a:extLst>
              <a:ext uri="{FF2B5EF4-FFF2-40B4-BE49-F238E27FC236}">
                <a16:creationId xmlns:a16="http://schemas.microsoft.com/office/drawing/2014/main" id="{9C005A8A-FA68-BD1A-2837-79590252F982}"/>
              </a:ext>
            </a:extLst>
          </p:cNvPr>
          <p:cNvSpPr/>
          <p:nvPr/>
        </p:nvSpPr>
        <p:spPr>
          <a:xfrm>
            <a:off x="8366528" y="3327400"/>
            <a:ext cx="612372" cy="97790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B3357B-1C87-2C54-208B-963A03E45A53}"/>
              </a:ext>
            </a:extLst>
          </p:cNvPr>
          <p:cNvSpPr txBox="1"/>
          <p:nvPr/>
        </p:nvSpPr>
        <p:spPr>
          <a:xfrm>
            <a:off x="8978901" y="3631684"/>
            <a:ext cx="2697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products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bundling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895C93-F8F5-FB22-F5F1-5D3B8C0AF46B}"/>
              </a:ext>
            </a:extLst>
          </p:cNvPr>
          <p:cNvSpPr txBox="1"/>
          <p:nvPr/>
        </p:nvSpPr>
        <p:spPr>
          <a:xfrm>
            <a:off x="8978900" y="4533900"/>
            <a:ext cx="2697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Setrika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Cuci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Kering</a:t>
            </a:r>
          </a:p>
        </p:txBody>
      </p:sp>
    </p:spTree>
    <p:extLst>
      <p:ext uri="{BB962C8B-B14F-4D97-AF65-F5344CB8AC3E}">
        <p14:creationId xmlns:p14="http://schemas.microsoft.com/office/powerpoint/2010/main" val="8128949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7C1FA-E3CE-C2C6-6785-E74EF118C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D05A1D2-C1B4-4D1C-3399-1A5F3C5CAB37}"/>
              </a:ext>
            </a:extLst>
          </p:cNvPr>
          <p:cNvSpPr txBox="1"/>
          <p:nvPr/>
        </p:nvSpPr>
        <p:spPr>
          <a:xfrm>
            <a:off x="515831" y="310977"/>
            <a:ext cx="545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Interpretasi</a:t>
            </a:r>
            <a:r>
              <a:rPr lang="en-ID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dan </a:t>
            </a:r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Evaluasi</a:t>
            </a:r>
            <a:endParaRPr lang="en-ID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447900-B40F-41A1-EF67-19879B5B41EF}"/>
              </a:ext>
            </a:extLst>
          </p:cNvPr>
          <p:cNvSpPr txBox="1"/>
          <p:nvPr/>
        </p:nvSpPr>
        <p:spPr>
          <a:xfrm>
            <a:off x="544050" y="1142484"/>
            <a:ext cx="2697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products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bundling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47EE99-E357-FB67-24CB-B5F9BC127423}"/>
              </a:ext>
            </a:extLst>
          </p:cNvPr>
          <p:cNvSpPr txBox="1"/>
          <p:nvPr/>
        </p:nvSpPr>
        <p:spPr>
          <a:xfrm>
            <a:off x="3716475" y="1280983"/>
            <a:ext cx="2697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Setrika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Cuci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Kering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4B7B07-B49E-E19C-1FC7-044D4A36E2B7}"/>
              </a:ext>
            </a:extLst>
          </p:cNvPr>
          <p:cNvSpPr txBox="1"/>
          <p:nvPr/>
        </p:nvSpPr>
        <p:spPr>
          <a:xfrm>
            <a:off x="3241320" y="1280983"/>
            <a:ext cx="31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12732445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84945-2412-E8EC-D7B9-ED6530EF7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06E277A-1D49-58B1-75D7-B85113EE0104}"/>
              </a:ext>
            </a:extLst>
          </p:cNvPr>
          <p:cNvSpPr txBox="1"/>
          <p:nvPr/>
        </p:nvSpPr>
        <p:spPr>
          <a:xfrm>
            <a:off x="515831" y="310977"/>
            <a:ext cx="545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Interpretasi</a:t>
            </a:r>
            <a:r>
              <a:rPr lang="en-ID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dan </a:t>
            </a:r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Evaluasi</a:t>
            </a:r>
            <a:endParaRPr lang="en-ID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8BE04D-760F-00F4-8468-CF6BEB5AC8AF}"/>
              </a:ext>
            </a:extLst>
          </p:cNvPr>
          <p:cNvSpPr txBox="1"/>
          <p:nvPr/>
        </p:nvSpPr>
        <p:spPr>
          <a:xfrm>
            <a:off x="544050" y="1142484"/>
            <a:ext cx="2697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products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bundling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7A305D-6A04-94C5-DECB-1F3FB6314079}"/>
              </a:ext>
            </a:extLst>
          </p:cNvPr>
          <p:cNvSpPr txBox="1"/>
          <p:nvPr/>
        </p:nvSpPr>
        <p:spPr>
          <a:xfrm>
            <a:off x="3716475" y="1280983"/>
            <a:ext cx="2697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Setrika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Cuci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Kering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1BCEA8-99DC-44DA-718D-0BF54F0A73BB}"/>
              </a:ext>
            </a:extLst>
          </p:cNvPr>
          <p:cNvSpPr txBox="1"/>
          <p:nvPr/>
        </p:nvSpPr>
        <p:spPr>
          <a:xfrm>
            <a:off x="3241320" y="1280983"/>
            <a:ext cx="31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21B9A3-4C45-DC1C-E20E-A3813EB38B5A}"/>
              </a:ext>
            </a:extLst>
          </p:cNvPr>
          <p:cNvSpPr txBox="1"/>
          <p:nvPr/>
        </p:nvSpPr>
        <p:spPr>
          <a:xfrm>
            <a:off x="515831" y="1879084"/>
            <a:ext cx="2697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Popular products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670AD9-6DCB-E035-7A79-34B8E046D49A}"/>
              </a:ext>
            </a:extLst>
          </p:cNvPr>
          <p:cNvSpPr txBox="1"/>
          <p:nvPr/>
        </p:nvSpPr>
        <p:spPr>
          <a:xfrm>
            <a:off x="3241320" y="1879084"/>
            <a:ext cx="31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124183-5507-46F6-D966-81519B56F5F5}"/>
              </a:ext>
            </a:extLst>
          </p:cNvPr>
          <p:cNvSpPr txBox="1"/>
          <p:nvPr/>
        </p:nvSpPr>
        <p:spPr>
          <a:xfrm>
            <a:off x="3716475" y="1879084"/>
            <a:ext cx="2697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Bantal &amp; Guling</a:t>
            </a:r>
          </a:p>
        </p:txBody>
      </p:sp>
    </p:spTree>
    <p:extLst>
      <p:ext uri="{BB962C8B-B14F-4D97-AF65-F5344CB8AC3E}">
        <p14:creationId xmlns:p14="http://schemas.microsoft.com/office/powerpoint/2010/main" val="29439714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E5830-5758-20F8-2F77-89CBFA0F2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4445448-6F35-587B-D453-970476AF48BA}"/>
              </a:ext>
            </a:extLst>
          </p:cNvPr>
          <p:cNvSpPr txBox="1"/>
          <p:nvPr/>
        </p:nvSpPr>
        <p:spPr>
          <a:xfrm>
            <a:off x="515831" y="310977"/>
            <a:ext cx="545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Interpretasi</a:t>
            </a:r>
            <a:r>
              <a:rPr lang="en-ID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dan </a:t>
            </a:r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Evaluasi</a:t>
            </a:r>
            <a:endParaRPr lang="en-ID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84C7D5-7CB3-B372-1A4B-2A7F00D029A6}"/>
              </a:ext>
            </a:extLst>
          </p:cNvPr>
          <p:cNvSpPr txBox="1"/>
          <p:nvPr/>
        </p:nvSpPr>
        <p:spPr>
          <a:xfrm>
            <a:off x="544050" y="1142484"/>
            <a:ext cx="2697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products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bundling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393CE0-995F-EFE6-8998-6A1D59756CE4}"/>
              </a:ext>
            </a:extLst>
          </p:cNvPr>
          <p:cNvSpPr txBox="1"/>
          <p:nvPr/>
        </p:nvSpPr>
        <p:spPr>
          <a:xfrm>
            <a:off x="3716475" y="1280983"/>
            <a:ext cx="2697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Setrika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Cuci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Kering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3015AA-B1D9-6040-3FCD-E1EB161FA67A}"/>
              </a:ext>
            </a:extLst>
          </p:cNvPr>
          <p:cNvSpPr txBox="1"/>
          <p:nvPr/>
        </p:nvSpPr>
        <p:spPr>
          <a:xfrm>
            <a:off x="3241320" y="1280983"/>
            <a:ext cx="31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5DD11A-6AA1-332B-79BC-CCC1F4243C78}"/>
              </a:ext>
            </a:extLst>
          </p:cNvPr>
          <p:cNvSpPr txBox="1"/>
          <p:nvPr/>
        </p:nvSpPr>
        <p:spPr>
          <a:xfrm>
            <a:off x="515831" y="1879084"/>
            <a:ext cx="2697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Popular products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B0CD51-880F-C3C5-A0B9-6D1836BEDB71}"/>
              </a:ext>
            </a:extLst>
          </p:cNvPr>
          <p:cNvSpPr txBox="1"/>
          <p:nvPr/>
        </p:nvSpPr>
        <p:spPr>
          <a:xfrm>
            <a:off x="3241320" y="1879084"/>
            <a:ext cx="31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0A8D9A-6F96-0163-F613-C0D01BE03C4E}"/>
              </a:ext>
            </a:extLst>
          </p:cNvPr>
          <p:cNvSpPr txBox="1"/>
          <p:nvPr/>
        </p:nvSpPr>
        <p:spPr>
          <a:xfrm>
            <a:off x="3716475" y="1879084"/>
            <a:ext cx="2697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Bantal &amp; Guling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582C1A0C-89E3-D345-FCCD-DA06689F6FDF}"/>
              </a:ext>
            </a:extLst>
          </p:cNvPr>
          <p:cNvSpPr/>
          <p:nvPr/>
        </p:nvSpPr>
        <p:spPr>
          <a:xfrm>
            <a:off x="6031650" y="1650315"/>
            <a:ext cx="1079500" cy="30828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43F67E-8AC9-081A-58E0-DB9BCA2327BA}"/>
              </a:ext>
            </a:extLst>
          </p:cNvPr>
          <p:cNvSpPr txBox="1"/>
          <p:nvPr/>
        </p:nvSpPr>
        <p:spPr>
          <a:xfrm>
            <a:off x="7571361" y="1604149"/>
            <a:ext cx="2358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Rekomendasi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Bundling</a:t>
            </a:r>
          </a:p>
        </p:txBody>
      </p:sp>
    </p:spTree>
    <p:extLst>
      <p:ext uri="{BB962C8B-B14F-4D97-AF65-F5344CB8AC3E}">
        <p14:creationId xmlns:p14="http://schemas.microsoft.com/office/powerpoint/2010/main" val="7736701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C597-463E-535B-E3B6-6A4E701F7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192DE08-B2A0-C9B0-D184-9B2EA263C1BA}"/>
              </a:ext>
            </a:extLst>
          </p:cNvPr>
          <p:cNvSpPr txBox="1"/>
          <p:nvPr/>
        </p:nvSpPr>
        <p:spPr>
          <a:xfrm>
            <a:off x="515831" y="310977"/>
            <a:ext cx="545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Interpretasi</a:t>
            </a:r>
            <a:r>
              <a:rPr lang="en-ID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dan </a:t>
            </a:r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Evaluasi</a:t>
            </a:r>
            <a:endParaRPr lang="en-ID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3CE5A-D62E-D76D-68E3-6C3A1A59A576}"/>
              </a:ext>
            </a:extLst>
          </p:cNvPr>
          <p:cNvSpPr txBox="1"/>
          <p:nvPr/>
        </p:nvSpPr>
        <p:spPr>
          <a:xfrm>
            <a:off x="544050" y="1142484"/>
            <a:ext cx="2697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products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bundling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34B60D-2E16-209B-2646-0FD6AC4D09D9}"/>
              </a:ext>
            </a:extLst>
          </p:cNvPr>
          <p:cNvSpPr txBox="1"/>
          <p:nvPr/>
        </p:nvSpPr>
        <p:spPr>
          <a:xfrm>
            <a:off x="3716475" y="1280983"/>
            <a:ext cx="2697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Setrika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Cuci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Kering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F675C9-4946-005A-997B-CB9224547426}"/>
              </a:ext>
            </a:extLst>
          </p:cNvPr>
          <p:cNvSpPr txBox="1"/>
          <p:nvPr/>
        </p:nvSpPr>
        <p:spPr>
          <a:xfrm>
            <a:off x="3241320" y="1280983"/>
            <a:ext cx="31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3F3BF4-7CBA-16EB-39D7-4629C2CA0F57}"/>
              </a:ext>
            </a:extLst>
          </p:cNvPr>
          <p:cNvSpPr txBox="1"/>
          <p:nvPr/>
        </p:nvSpPr>
        <p:spPr>
          <a:xfrm>
            <a:off x="515831" y="1879084"/>
            <a:ext cx="2697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Popular products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6E11C6-B50C-409C-D9A6-ADD1B19E63B9}"/>
              </a:ext>
            </a:extLst>
          </p:cNvPr>
          <p:cNvSpPr txBox="1"/>
          <p:nvPr/>
        </p:nvSpPr>
        <p:spPr>
          <a:xfrm>
            <a:off x="3241320" y="1879084"/>
            <a:ext cx="31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50070C-AD1A-42FC-EAC8-DAF01D9FB745}"/>
              </a:ext>
            </a:extLst>
          </p:cNvPr>
          <p:cNvSpPr txBox="1"/>
          <p:nvPr/>
        </p:nvSpPr>
        <p:spPr>
          <a:xfrm>
            <a:off x="3716475" y="1879084"/>
            <a:ext cx="2697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Bantal &amp; Guling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2C09C453-9A1D-2948-E225-DEB6492AD90D}"/>
              </a:ext>
            </a:extLst>
          </p:cNvPr>
          <p:cNvSpPr/>
          <p:nvPr/>
        </p:nvSpPr>
        <p:spPr>
          <a:xfrm>
            <a:off x="6031650" y="1650315"/>
            <a:ext cx="1079500" cy="30828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8ED993-0B01-3659-D932-E4B0D64ECC16}"/>
              </a:ext>
            </a:extLst>
          </p:cNvPr>
          <p:cNvSpPr txBox="1"/>
          <p:nvPr/>
        </p:nvSpPr>
        <p:spPr>
          <a:xfrm>
            <a:off x="7571361" y="1604149"/>
            <a:ext cx="2358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Rekomendasi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Bundling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683862F-E3A3-C4F8-BAE5-E63E4261847A}"/>
              </a:ext>
            </a:extLst>
          </p:cNvPr>
          <p:cNvSpPr/>
          <p:nvPr/>
        </p:nvSpPr>
        <p:spPr>
          <a:xfrm>
            <a:off x="7301250" y="1493708"/>
            <a:ext cx="2855339" cy="7707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0950433-8107-1B10-D780-58794255FC13}"/>
              </a:ext>
            </a:extLst>
          </p:cNvPr>
          <p:cNvCxnSpPr>
            <a:stCxn id="5" idx="4"/>
          </p:cNvCxnSpPr>
          <p:nvPr/>
        </p:nvCxnSpPr>
        <p:spPr>
          <a:xfrm flipH="1">
            <a:off x="6654800" y="2264459"/>
            <a:ext cx="2074120" cy="974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47F6C8A-72B0-5DA3-5F1F-8B04763D53B1}"/>
              </a:ext>
            </a:extLst>
          </p:cNvPr>
          <p:cNvSpPr txBox="1"/>
          <p:nvPr/>
        </p:nvSpPr>
        <p:spPr>
          <a:xfrm>
            <a:off x="5715075" y="3238500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4806119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33B6A-3C6F-C7F0-2DF0-6742CC3D4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2A7212E-CE14-9C3A-4922-CF670745C0B6}"/>
              </a:ext>
            </a:extLst>
          </p:cNvPr>
          <p:cNvSpPr txBox="1"/>
          <p:nvPr/>
        </p:nvSpPr>
        <p:spPr>
          <a:xfrm>
            <a:off x="515831" y="310977"/>
            <a:ext cx="545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Interpretasi</a:t>
            </a:r>
            <a:r>
              <a:rPr lang="en-ID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dan </a:t>
            </a:r>
            <a:r>
              <a:rPr lang="en-ID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Evaluasi</a:t>
            </a:r>
            <a:endParaRPr lang="en-ID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106C49-7D2E-1850-69D8-B9C5F2FB4D67}"/>
              </a:ext>
            </a:extLst>
          </p:cNvPr>
          <p:cNvSpPr txBox="1"/>
          <p:nvPr/>
        </p:nvSpPr>
        <p:spPr>
          <a:xfrm>
            <a:off x="544050" y="1142484"/>
            <a:ext cx="2697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products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bundling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F12DA7-61EE-9115-94BB-C6CCE06BCB29}"/>
              </a:ext>
            </a:extLst>
          </p:cNvPr>
          <p:cNvSpPr txBox="1"/>
          <p:nvPr/>
        </p:nvSpPr>
        <p:spPr>
          <a:xfrm>
            <a:off x="3716475" y="1280983"/>
            <a:ext cx="2697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Setrika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Cuci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Kering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AC7A82-37E2-5E2A-614B-9DFB0824EE85}"/>
              </a:ext>
            </a:extLst>
          </p:cNvPr>
          <p:cNvSpPr txBox="1"/>
          <p:nvPr/>
        </p:nvSpPr>
        <p:spPr>
          <a:xfrm>
            <a:off x="3241320" y="1280983"/>
            <a:ext cx="31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15B354-373C-3115-3085-21C5D21A4B92}"/>
              </a:ext>
            </a:extLst>
          </p:cNvPr>
          <p:cNvSpPr txBox="1"/>
          <p:nvPr/>
        </p:nvSpPr>
        <p:spPr>
          <a:xfrm>
            <a:off x="515831" y="1879084"/>
            <a:ext cx="2697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Popular products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589250-FB67-3BF5-9A31-20FA58F5CE7D}"/>
              </a:ext>
            </a:extLst>
          </p:cNvPr>
          <p:cNvSpPr txBox="1"/>
          <p:nvPr/>
        </p:nvSpPr>
        <p:spPr>
          <a:xfrm>
            <a:off x="3241320" y="1879084"/>
            <a:ext cx="31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6C87E0-5D85-0EC1-CD2A-7B2FB71C6064}"/>
              </a:ext>
            </a:extLst>
          </p:cNvPr>
          <p:cNvSpPr txBox="1"/>
          <p:nvPr/>
        </p:nvSpPr>
        <p:spPr>
          <a:xfrm>
            <a:off x="3716475" y="1879084"/>
            <a:ext cx="2697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Bantal &amp; Guling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5B60DD65-80EE-76FF-33BB-BF1ABB82EAD0}"/>
              </a:ext>
            </a:extLst>
          </p:cNvPr>
          <p:cNvSpPr/>
          <p:nvPr/>
        </p:nvSpPr>
        <p:spPr>
          <a:xfrm>
            <a:off x="6031650" y="1650315"/>
            <a:ext cx="1079500" cy="30828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EB46EB-78FE-70C1-1E78-804C468614DC}"/>
              </a:ext>
            </a:extLst>
          </p:cNvPr>
          <p:cNvSpPr txBox="1"/>
          <p:nvPr/>
        </p:nvSpPr>
        <p:spPr>
          <a:xfrm>
            <a:off x="7571361" y="1604149"/>
            <a:ext cx="2358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Rekomendasi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Bundling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22CA46C-698F-E259-8A00-983E1B3118BE}"/>
              </a:ext>
            </a:extLst>
          </p:cNvPr>
          <p:cNvSpPr/>
          <p:nvPr/>
        </p:nvSpPr>
        <p:spPr>
          <a:xfrm>
            <a:off x="7301250" y="1493708"/>
            <a:ext cx="2855339" cy="7707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17238AA-7AFE-9120-FD62-F78D3DF709AE}"/>
              </a:ext>
            </a:extLst>
          </p:cNvPr>
          <p:cNvCxnSpPr>
            <a:stCxn id="5" idx="4"/>
          </p:cNvCxnSpPr>
          <p:nvPr/>
        </p:nvCxnSpPr>
        <p:spPr>
          <a:xfrm flipH="1">
            <a:off x="6654800" y="2264459"/>
            <a:ext cx="2074120" cy="974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6C58578-A711-1252-F54C-333BDC095DE0}"/>
              </a:ext>
            </a:extLst>
          </p:cNvPr>
          <p:cNvSpPr txBox="1"/>
          <p:nvPr/>
        </p:nvSpPr>
        <p:spPr>
          <a:xfrm>
            <a:off x="5715075" y="3238500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1B1A61-18B4-16CE-4A15-1B6C34EEB152}"/>
              </a:ext>
            </a:extLst>
          </p:cNvPr>
          <p:cNvSpPr txBox="1"/>
          <p:nvPr/>
        </p:nvSpPr>
        <p:spPr>
          <a:xfrm>
            <a:off x="690765" y="3293303"/>
            <a:ext cx="45847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tindak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lanjut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hasil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dipadukan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konsep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psychological pricing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Mengingat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konsumen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cenderung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responsif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terhadap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harga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akhiran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angka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tertentu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charm pricing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pada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paket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strategi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meningkatkan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persepsi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nilai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tanpa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mengurangi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margin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keuntungan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(Levy et al., 2025).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303C1E-E16C-A556-9F5C-A062C95410F8}"/>
              </a:ext>
            </a:extLst>
          </p:cNvPr>
          <p:cNvSpPr txBox="1"/>
          <p:nvPr/>
        </p:nvSpPr>
        <p:spPr>
          <a:xfrm>
            <a:off x="5358865" y="323850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5750D4-4061-103A-D38A-7C511E8A003C}"/>
              </a:ext>
            </a:extLst>
          </p:cNvPr>
          <p:cNvSpPr txBox="1"/>
          <p:nvPr/>
        </p:nvSpPr>
        <p:spPr>
          <a:xfrm>
            <a:off x="6654800" y="323850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B442A6-0EB1-7455-4AD3-C8EEF2F4BAAC}"/>
              </a:ext>
            </a:extLst>
          </p:cNvPr>
          <p:cNvSpPr txBox="1"/>
          <p:nvPr/>
        </p:nvSpPr>
        <p:spPr>
          <a:xfrm>
            <a:off x="7066642" y="3238500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</a:p>
        </p:txBody>
      </p:sp>
    </p:spTree>
    <p:extLst>
      <p:ext uri="{BB962C8B-B14F-4D97-AF65-F5344CB8AC3E}">
        <p14:creationId xmlns:p14="http://schemas.microsoft.com/office/powerpoint/2010/main" val="8594340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559B0-ACB0-7BFC-324D-0D50A896D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E2F0E1-A413-00B9-4EF1-389E628C0BCD}"/>
              </a:ext>
            </a:extLst>
          </p:cNvPr>
          <p:cNvSpPr txBox="1"/>
          <p:nvPr/>
        </p:nvSpPr>
        <p:spPr>
          <a:xfrm>
            <a:off x="4482880" y="3044279"/>
            <a:ext cx="32262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4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Terima</a:t>
            </a:r>
            <a:r>
              <a:rPr lang="en-ID" sz="4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Kasih</a:t>
            </a:r>
          </a:p>
        </p:txBody>
      </p:sp>
    </p:spTree>
    <p:extLst>
      <p:ext uri="{BB962C8B-B14F-4D97-AF65-F5344CB8AC3E}">
        <p14:creationId xmlns:p14="http://schemas.microsoft.com/office/powerpoint/2010/main" val="910888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</TotalTime>
  <Words>1545</Words>
  <Application>Microsoft Office PowerPoint</Application>
  <PresentationFormat>Widescreen</PresentationFormat>
  <Paragraphs>369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Arial</vt:lpstr>
      <vt:lpstr>Calibri</vt:lpstr>
      <vt:lpstr>Calibri Light</vt:lpstr>
      <vt:lpstr>Cambria Math</vt:lpstr>
      <vt:lpstr>Courier New</vt:lpstr>
      <vt:lpstr>Nunito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Hadzik Mochammad Sofyan</dc:creator>
  <cp:lastModifiedBy>Hadzik Mochammad Sofyan</cp:lastModifiedBy>
  <cp:revision>121</cp:revision>
  <dcterms:created xsi:type="dcterms:W3CDTF">2026-07-10T08:53:12Z</dcterms:created>
  <dcterms:modified xsi:type="dcterms:W3CDTF">2026-07-15T00:47:35Z</dcterms:modified>
</cp:coreProperties>
</file>